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autoCompressPictures="0">
  <p:sldMasterIdLst>
    <p:sldMasterId id="2147483648" r:id="rId1"/>
  </p:sldMasterIdLst>
  <p:sldIdLst>
    <p:sldId id="256" r:id="rId2"/>
    <p:sldId id="257" r:id="rId3"/>
    <p:sldId id="258" r:id="rId4"/>
    <p:sldId id="263" r:id="rId5"/>
    <p:sldId id="259" r:id="rId6"/>
    <p:sldId id="260" r:id="rId7"/>
    <p:sldId id="261" r:id="rId8"/>
    <p:sldId id="262" r:id="rId9"/>
  </p:sldIdLst>
  <p:sldSz cx="12192000" cy="6858000"/>
  <p:notesSz cx="6858000" cy="9144000"/>
  <p:embeddedFontLst>
    <p:embeddedFont>
      <p:font typeface="Montserrat" panose="00000500000000000000" pitchFamily="2" charset="0"/>
      <p:regular r:id="rId10"/>
      <p:bold r:id="rId11"/>
      <p:italic r:id="rId12"/>
      <p:boldItalic r:id="rId13"/>
    </p:embeddedFont>
    <p:embeddedFont>
      <p:font typeface="Segoe UI" panose="020B0502040204020203" pitchFamily="34" charset="0"/>
      <p:regular r:id="rId14"/>
      <p:bold r:id="rId15"/>
      <p:italic r:id="rId16"/>
      <p:boldItalic r:id="rId17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92" d="100"/>
          <a:sy n="92" d="100"/>
        </p:scale>
        <p:origin x="378" y="34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4.fntdata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font" Target="fonts/font3.fntdata"/><Relationship Id="rId17" Type="http://schemas.openxmlformats.org/officeDocument/2006/relationships/font" Target="fonts/font8.fntdata"/><Relationship Id="rId2" Type="http://schemas.openxmlformats.org/officeDocument/2006/relationships/slide" Target="slides/slide1.xml"/><Relationship Id="rId16" Type="http://schemas.openxmlformats.org/officeDocument/2006/relationships/font" Target="fonts/font7.fntdata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2.fntdata"/><Relationship Id="rId5" Type="http://schemas.openxmlformats.org/officeDocument/2006/relationships/slide" Target="slides/slide4.xml"/><Relationship Id="rId15" Type="http://schemas.openxmlformats.org/officeDocument/2006/relationships/font" Target="fonts/font6.fntdata"/><Relationship Id="rId10" Type="http://schemas.openxmlformats.org/officeDocument/2006/relationships/font" Target="fonts/font1.fntdata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5.fntdata"/><Relationship Id="rId22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Upendra Kumar" userId="6c07c951-56e6-444d-b54c-43a261dacbee" providerId="ADAL" clId="{06A93499-00C3-468F-BFAF-ED895873DCA0}"/>
    <pc:docChg chg="undo custSel addSld modSld">
      <pc:chgData name="Upendra Kumar" userId="6c07c951-56e6-444d-b54c-43a261dacbee" providerId="ADAL" clId="{06A93499-00C3-468F-BFAF-ED895873DCA0}" dt="2026-04-16T10:21:29.418" v="14" actId="14100"/>
      <pc:docMkLst>
        <pc:docMk/>
      </pc:docMkLst>
      <pc:sldChg chg="addSp delSp modSp add mod setBg">
        <pc:chgData name="Upendra Kumar" userId="6c07c951-56e6-444d-b54c-43a261dacbee" providerId="ADAL" clId="{06A93499-00C3-468F-BFAF-ED895873DCA0}" dt="2026-04-16T10:21:29.418" v="14" actId="14100"/>
        <pc:sldMkLst>
          <pc:docMk/>
          <pc:sldMk cId="2658828366" sldId="263"/>
        </pc:sldMkLst>
        <pc:spChg chg="del">
          <ac:chgData name="Upendra Kumar" userId="6c07c951-56e6-444d-b54c-43a261dacbee" providerId="ADAL" clId="{06A93499-00C3-468F-BFAF-ED895873DCA0}" dt="2026-04-15T04:53:17.412" v="1" actId="478"/>
          <ac:spMkLst>
            <pc:docMk/>
            <pc:sldMk cId="2658828366" sldId="263"/>
            <ac:spMk id="2" creationId="{382CCFD4-58EF-3EB6-8B26-7BD064FDA9DE}"/>
          </ac:spMkLst>
        </pc:spChg>
        <pc:spChg chg="del">
          <ac:chgData name="Upendra Kumar" userId="6c07c951-56e6-444d-b54c-43a261dacbee" providerId="ADAL" clId="{06A93499-00C3-468F-BFAF-ED895873DCA0}" dt="2026-04-15T04:53:17.412" v="1" actId="478"/>
          <ac:spMkLst>
            <pc:docMk/>
            <pc:sldMk cId="2658828366" sldId="263"/>
            <ac:spMk id="4" creationId="{115EB397-F536-57DF-4C61-DBF7DDFCA2F1}"/>
          </ac:spMkLst>
        </pc:spChg>
        <pc:spChg chg="add del">
          <ac:chgData name="Upendra Kumar" userId="6c07c951-56e6-444d-b54c-43a261dacbee" providerId="ADAL" clId="{06A93499-00C3-468F-BFAF-ED895873DCA0}" dt="2026-04-16T10:21:20.416" v="13" actId="26606"/>
          <ac:spMkLst>
            <pc:docMk/>
            <pc:sldMk cId="2658828366" sldId="263"/>
            <ac:spMk id="5" creationId="{2215C6C6-E45C-4179-9FC1-E8A4C1D47430}"/>
          </ac:spMkLst>
        </pc:spChg>
        <pc:spChg chg="del">
          <ac:chgData name="Upendra Kumar" userId="6c07c951-56e6-444d-b54c-43a261dacbee" providerId="ADAL" clId="{06A93499-00C3-468F-BFAF-ED895873DCA0}" dt="2026-04-15T04:53:17.412" v="1" actId="478"/>
          <ac:spMkLst>
            <pc:docMk/>
            <pc:sldMk cId="2658828366" sldId="263"/>
            <ac:spMk id="7" creationId="{051AB325-946C-8441-1F15-8E3973139865}"/>
          </ac:spMkLst>
        </pc:spChg>
        <pc:spChg chg="del">
          <ac:chgData name="Upendra Kumar" userId="6c07c951-56e6-444d-b54c-43a261dacbee" providerId="ADAL" clId="{06A93499-00C3-468F-BFAF-ED895873DCA0}" dt="2026-04-15T04:53:17.412" v="1" actId="478"/>
          <ac:spMkLst>
            <pc:docMk/>
            <pc:sldMk cId="2658828366" sldId="263"/>
            <ac:spMk id="8" creationId="{48E551C5-0491-5B5B-12E0-1060AC632F6D}"/>
          </ac:spMkLst>
        </pc:spChg>
        <pc:spChg chg="del">
          <ac:chgData name="Upendra Kumar" userId="6c07c951-56e6-444d-b54c-43a261dacbee" providerId="ADAL" clId="{06A93499-00C3-468F-BFAF-ED895873DCA0}" dt="2026-04-15T04:53:17.412" v="1" actId="478"/>
          <ac:spMkLst>
            <pc:docMk/>
            <pc:sldMk cId="2658828366" sldId="263"/>
            <ac:spMk id="9" creationId="{FD585D23-DD9B-7DD0-7D96-34FD89E3A697}"/>
          </ac:spMkLst>
        </pc:spChg>
        <pc:spChg chg="del">
          <ac:chgData name="Upendra Kumar" userId="6c07c951-56e6-444d-b54c-43a261dacbee" providerId="ADAL" clId="{06A93499-00C3-468F-BFAF-ED895873DCA0}" dt="2026-04-15T04:53:17.412" v="1" actId="478"/>
          <ac:spMkLst>
            <pc:docMk/>
            <pc:sldMk cId="2658828366" sldId="263"/>
            <ac:spMk id="10" creationId="{242594E8-83D1-448A-5BF4-D1B5F6A32D54}"/>
          </ac:spMkLst>
        </pc:spChg>
        <pc:spChg chg="del">
          <ac:chgData name="Upendra Kumar" userId="6c07c951-56e6-444d-b54c-43a261dacbee" providerId="ADAL" clId="{06A93499-00C3-468F-BFAF-ED895873DCA0}" dt="2026-04-15T04:53:17.412" v="1" actId="478"/>
          <ac:spMkLst>
            <pc:docMk/>
            <pc:sldMk cId="2658828366" sldId="263"/>
            <ac:spMk id="11" creationId="{F6032C2C-0FE1-E376-F00C-98B85B53F042}"/>
          </ac:spMkLst>
        </pc:spChg>
        <pc:spChg chg="del">
          <ac:chgData name="Upendra Kumar" userId="6c07c951-56e6-444d-b54c-43a261dacbee" providerId="ADAL" clId="{06A93499-00C3-468F-BFAF-ED895873DCA0}" dt="2026-04-15T04:53:17.412" v="1" actId="478"/>
          <ac:spMkLst>
            <pc:docMk/>
            <pc:sldMk cId="2658828366" sldId="263"/>
            <ac:spMk id="12" creationId="{13E0F02C-59A7-800B-ADC0-E00F80E0651A}"/>
          </ac:spMkLst>
        </pc:spChg>
        <pc:spChg chg="del">
          <ac:chgData name="Upendra Kumar" userId="6c07c951-56e6-444d-b54c-43a261dacbee" providerId="ADAL" clId="{06A93499-00C3-468F-BFAF-ED895873DCA0}" dt="2026-04-15T04:53:17.412" v="1" actId="478"/>
          <ac:spMkLst>
            <pc:docMk/>
            <pc:sldMk cId="2658828366" sldId="263"/>
            <ac:spMk id="13" creationId="{115D0474-FBC1-03F4-45B7-9641C712D6D7}"/>
          </ac:spMkLst>
        </pc:spChg>
        <pc:spChg chg="add del">
          <ac:chgData name="Upendra Kumar" userId="6c07c951-56e6-444d-b54c-43a261dacbee" providerId="ADAL" clId="{06A93499-00C3-468F-BFAF-ED895873DCA0}" dt="2026-04-16T10:21:20.416" v="13" actId="26606"/>
          <ac:spMkLst>
            <pc:docMk/>
            <pc:sldMk cId="2658828366" sldId="263"/>
            <ac:spMk id="14" creationId="{3776B14B-F2F4-4825-8DA8-8C7A0F2B3960}"/>
          </ac:spMkLst>
        </pc:spChg>
        <pc:spChg chg="del">
          <ac:chgData name="Upendra Kumar" userId="6c07c951-56e6-444d-b54c-43a261dacbee" providerId="ADAL" clId="{06A93499-00C3-468F-BFAF-ED895873DCA0}" dt="2026-04-15T04:53:17.412" v="1" actId="478"/>
          <ac:spMkLst>
            <pc:docMk/>
            <pc:sldMk cId="2658828366" sldId="263"/>
            <ac:spMk id="15" creationId="{4745D399-CDA2-089C-4F06-CC7107572EC6}"/>
          </ac:spMkLst>
        </pc:spChg>
        <pc:spChg chg="add del">
          <ac:chgData name="Upendra Kumar" userId="6c07c951-56e6-444d-b54c-43a261dacbee" providerId="ADAL" clId="{06A93499-00C3-468F-BFAF-ED895873DCA0}" dt="2026-04-16T10:21:08.360" v="8" actId="26606"/>
          <ac:spMkLst>
            <pc:docMk/>
            <pc:sldMk cId="2658828366" sldId="263"/>
            <ac:spMk id="22" creationId="{42A4FC2C-047E-45A5-965D-8E1E3BF09BC6}"/>
          </ac:spMkLst>
        </pc:spChg>
        <pc:spChg chg="add del">
          <ac:chgData name="Upendra Kumar" userId="6c07c951-56e6-444d-b54c-43a261dacbee" providerId="ADAL" clId="{06A93499-00C3-468F-BFAF-ED895873DCA0}" dt="2026-04-16T10:21:13.842" v="10" actId="26606"/>
          <ac:spMkLst>
            <pc:docMk/>
            <pc:sldMk cId="2658828366" sldId="263"/>
            <ac:spMk id="29" creationId="{8B089790-F4B6-46A7-BB28-7B74A9A9EFDC}"/>
          </ac:spMkLst>
        </pc:spChg>
        <pc:spChg chg="add del">
          <ac:chgData name="Upendra Kumar" userId="6c07c951-56e6-444d-b54c-43a261dacbee" providerId="ADAL" clId="{06A93499-00C3-468F-BFAF-ED895873DCA0}" dt="2026-04-16T10:21:19.638" v="12" actId="26606"/>
          <ac:spMkLst>
            <pc:docMk/>
            <pc:sldMk cId="2658828366" sldId="263"/>
            <ac:spMk id="31" creationId="{4613B4A9-1C7C-4729-A016-AB42D3979460}"/>
          </ac:spMkLst>
        </pc:spChg>
        <pc:grpChg chg="add del">
          <ac:chgData name="Upendra Kumar" userId="6c07c951-56e6-444d-b54c-43a261dacbee" providerId="ADAL" clId="{06A93499-00C3-468F-BFAF-ED895873DCA0}" dt="2026-04-16T10:21:20.416" v="13" actId="26606"/>
          <ac:grpSpMkLst>
            <pc:docMk/>
            <pc:sldMk cId="2658828366" sldId="263"/>
            <ac:grpSpMk id="6" creationId="{5FE9FE4C-C9E0-4C54-8010-EA9D29CD4D59}"/>
          </ac:grpSpMkLst>
        </pc:grpChg>
        <pc:grpChg chg="add del">
          <ac:chgData name="Upendra Kumar" userId="6c07c951-56e6-444d-b54c-43a261dacbee" providerId="ADAL" clId="{06A93499-00C3-468F-BFAF-ED895873DCA0}" dt="2026-04-16T10:21:13.842" v="10" actId="26606"/>
          <ac:grpSpMkLst>
            <pc:docMk/>
            <pc:sldMk cId="2658828366" sldId="263"/>
            <ac:grpSpMk id="24" creationId="{9DE3F54D-33BC-4382-A2AB-5E002F0F1166}"/>
          </ac:grpSpMkLst>
        </pc:grpChg>
        <pc:picChg chg="add mod">
          <ac:chgData name="Upendra Kumar" userId="6c07c951-56e6-444d-b54c-43a261dacbee" providerId="ADAL" clId="{06A93499-00C3-468F-BFAF-ED895873DCA0}" dt="2026-04-16T10:21:29.418" v="14" actId="14100"/>
          <ac:picMkLst>
            <pc:docMk/>
            <pc:sldMk cId="2658828366" sldId="263"/>
            <ac:picMk id="3" creationId="{200A2CC2-407C-0E08-E6E5-C7D5844036F6}"/>
          </ac:picMkLst>
        </pc:picChg>
      </pc:sldChg>
    </pc:docChg>
  </pc:docChgLst>
</pc:chgInfo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r>
              <a:rPr lang="en-GB" sz="1200" b="1">
                <a:solidFill>
                  <a:srgbClr val="7B3F94"/>
                </a:solidFill>
                <a:latin typeface="Segoe UI"/>
              </a:rPr>
              <a:t>Organizational Impact by Value Driver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Improvement (%)</c:v>
                </c:pt>
              </c:strCache>
            </c:strRef>
          </c:tx>
          <c:invertIfNegative val="1"/>
          <c:dPt>
            <c:idx val="0"/>
            <c:invertIfNegative val="1"/>
            <c:bubble3D val="0"/>
            <c:spPr>
              <a:solidFill>
                <a:srgbClr val="6B2D8F"/>
              </a:solidFill>
            </c:spPr>
            <c:extLst>
              <c:ext xmlns:c16="http://schemas.microsoft.com/office/drawing/2014/chart" uri="{C3380CC4-5D6E-409C-BE32-E72D297353CC}">
                <c16:uniqueId val="{00000001-79D5-45C3-94D8-F866AA2C54A8}"/>
              </c:ext>
            </c:extLst>
          </c:dPt>
          <c:dPt>
            <c:idx val="1"/>
            <c:invertIfNegative val="1"/>
            <c:bubble3D val="0"/>
            <c:spPr>
              <a:solidFill>
                <a:srgbClr val="4A90A4"/>
              </a:solidFill>
            </c:spPr>
            <c:extLst>
              <c:ext xmlns:c16="http://schemas.microsoft.com/office/drawing/2014/chart" uri="{C3380CC4-5D6E-409C-BE32-E72D297353CC}">
                <c16:uniqueId val="{00000003-79D5-45C3-94D8-F866AA2C54A8}"/>
              </c:ext>
            </c:extLst>
          </c:dPt>
          <c:dPt>
            <c:idx val="2"/>
            <c:invertIfNegative val="1"/>
            <c:bubble3D val="0"/>
            <c:spPr>
              <a:solidFill>
                <a:srgbClr val="C490D1"/>
              </a:solidFill>
            </c:spPr>
            <c:extLst>
              <c:ext xmlns:c16="http://schemas.microsoft.com/office/drawing/2014/chart" uri="{C3380CC4-5D6E-409C-BE32-E72D297353CC}">
                <c16:uniqueId val="{00000005-79D5-45C3-94D8-F866AA2C54A8}"/>
              </c:ext>
            </c:extLst>
          </c:dPt>
          <c:cat>
            <c:strRef>
              <c:f>Sheet1!$A$2:$A$4</c:f>
              <c:strCache>
                <c:ptCount val="3"/>
                <c:pt idx="0">
                  <c:v>Security Incident Reduction</c:v>
                </c:pt>
                <c:pt idx="1">
                  <c:v>Faster Approval Cycles</c:v>
                </c:pt>
                <c:pt idx="2">
                  <c:v>Cost Optimization Identified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70</c:v>
                </c:pt>
                <c:pt idx="1">
                  <c:v>40</c:v>
                </c:pt>
                <c:pt idx="2">
                  <c:v>30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79D5-45C3-94D8-F866AA2C54A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r>
                  <a:rPr lang="en-GB" sz="975">
                    <a:solidFill>
                      <a:srgbClr val="7B3F94"/>
                    </a:solidFill>
                    <a:latin typeface="Segoe UI"/>
                  </a:rPr>
                  <a:t>Value Driver</a:t>
                </a:r>
              </a:p>
            </c:rich>
          </c:tx>
          <c:overlay val="0"/>
        </c:title>
        <c:numFmt formatCode="General" sourceLinked="0"/>
        <c:majorTickMark val="out"/>
        <c:minorTickMark val="none"/>
        <c:tickLblPos val="nextTo"/>
        <c:spPr>
          <a:ln>
            <a:solidFill>
              <a:srgbClr val="000000">
                <a:alpha val="10000"/>
              </a:srgbClr>
            </a:solidFill>
          </a:ln>
        </c:spPr>
        <c:txPr>
          <a:bodyPr/>
          <a:lstStyle/>
          <a:p>
            <a:pPr>
              <a:defRPr sz="825">
                <a:solidFill>
                  <a:srgbClr val="333333"/>
                </a:solidFill>
                <a:latin typeface="Segoe UI"/>
              </a:defRPr>
            </a:pPr>
            <a:endParaRPr lang="en-US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  <c:max val="80"/>
          <c:min val="0"/>
        </c:scaling>
        <c:delete val="0"/>
        <c:axPos val="l"/>
        <c:majorGridlines>
          <c:spPr>
            <a:ln w="9525">
              <a:solidFill>
                <a:srgbClr val="E8F0F2"/>
              </a:solidFill>
            </a:ln>
          </c:spPr>
        </c:majorGridlines>
        <c:title>
          <c:tx>
            <c:rich>
              <a:bodyPr/>
              <a:lstStyle/>
              <a:p>
                <a:r>
                  <a:rPr lang="en-GB" sz="975">
                    <a:solidFill>
                      <a:srgbClr val="7B3F94"/>
                    </a:solidFill>
                    <a:latin typeface="Segoe UI"/>
                  </a:rPr>
                  <a:t>Improvement (%)</a:t>
                </a:r>
              </a:p>
            </c:rich>
          </c:tx>
          <c:overlay val="0"/>
        </c:title>
        <c:numFmt formatCode="0" sourceLinked="0"/>
        <c:majorTickMark val="out"/>
        <c:minorTickMark val="none"/>
        <c:tickLblPos val="nextTo"/>
        <c:spPr>
          <a:ln>
            <a:solidFill>
              <a:srgbClr val="000000">
                <a:alpha val="10000"/>
              </a:srgbClr>
            </a:solidFill>
          </a:ln>
        </c:spPr>
        <c:txPr>
          <a:bodyPr/>
          <a:lstStyle/>
          <a:p>
            <a:pPr>
              <a:defRPr sz="1100">
                <a:solidFill>
                  <a:srgbClr val="333333"/>
                </a:solidFill>
                <a:latin typeface="Segoe UI"/>
              </a:defRPr>
            </a:pPr>
            <a:endParaRPr lang="en-US"/>
          </a:p>
        </c:txPr>
        <c:crossAx val="-2068027336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</c:chartSpac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DEF5FE"/>
            </a:gs>
            <a:gs pos="100000">
              <a:srgbClr val="E8D4F0"/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188" y="2193969"/>
            <a:ext cx="11225709" cy="11233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650" b="1" i="0">
                <a:solidFill>
                  <a:srgbClr val="7B3F94"/>
                </a:solidFill>
                <a:latin typeface="Montserrat"/>
              </a:rPr>
              <a:t>Azure Review Assistant: Accelerating Architecture Governance 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9F5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869680" y="295267"/>
            <a:ext cx="8452184" cy="55243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3167" b="1" i="0">
                <a:solidFill>
                  <a:srgbClr val="7B3F94"/>
                </a:solidFill>
                <a:latin typeface="Montserrat"/>
              </a:rPr>
              <a:t>The Architecture Review Challenge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926087" y="1480505"/>
            <a:ext cx="2339519" cy="1295367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7391" b="1" i="0">
                <a:solidFill>
                  <a:srgbClr val="7B3F94"/>
                </a:solidFill>
                <a:latin typeface="Montserrat"/>
              </a:rPr>
              <a:t>60%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822008" y="2901480"/>
            <a:ext cx="6547529" cy="4546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450" b="1" i="0" dirty="0">
                <a:solidFill>
                  <a:srgbClr val="333333"/>
                </a:solidFill>
                <a:latin typeface="Montserrat"/>
              </a:rPr>
              <a:t>Average </a:t>
            </a:r>
            <a:r>
              <a:rPr lang="en-GB" sz="1450" b="1">
                <a:solidFill>
                  <a:srgbClr val="333333"/>
                </a:solidFill>
                <a:latin typeface="Montserrat"/>
              </a:rPr>
              <a:t>first</a:t>
            </a:r>
            <a:r>
              <a:rPr sz="1450" b="1" i="0" dirty="0">
                <a:solidFill>
                  <a:srgbClr val="333333"/>
                </a:solidFill>
                <a:latin typeface="Montserrat"/>
              </a:rPr>
              <a:t> Azure Landing Zone compliance gap requiring remediation</a:t>
            </a:r>
            <a:r>
              <a:rPr sz="900" b="0" i="0" dirty="0">
                <a:solidFill>
                  <a:srgbClr val="670E8C"/>
                </a:solidFill>
                <a:latin typeface="Montserrat"/>
              </a:rPr>
              <a:t> </a:t>
            </a:r>
            <a:endParaRPr lang="en-US" sz="900" b="0" i="0" dirty="0">
              <a:solidFill>
                <a:srgbClr val="670E8C"/>
              </a:solidFill>
              <a:latin typeface="Montserrat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3535323" y="3860802"/>
            <a:ext cx="1996925" cy="40956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2322" b="1" i="0">
                <a:solidFill>
                  <a:srgbClr val="7B3F94"/>
                </a:solidFill>
                <a:latin typeface="Montserrat"/>
              </a:rPr>
              <a:t>3-6 months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334261" y="4358322"/>
            <a:ext cx="2398900" cy="3693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0" i="0">
                <a:solidFill>
                  <a:srgbClr val="333333"/>
                </a:solidFill>
                <a:latin typeface="Montserrat"/>
              </a:rPr>
              <a:t>Typical remediation cycle for unplanned architecture issues</a:t>
            </a:r>
            <a:r>
              <a:rPr sz="900" b="0" i="0" dirty="0">
                <a:solidFill>
                  <a:srgbClr val="670E8C"/>
                </a:solidFill>
                <a:latin typeface="Montserrat"/>
              </a:rPr>
              <a:t> </a:t>
            </a:r>
            <a:endParaRPr lang="en-US" sz="900" b="0" i="0" dirty="0">
              <a:solidFill>
                <a:srgbClr val="670E8C"/>
              </a:solidFill>
              <a:latin typeface="Montserrat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7082106" y="3860802"/>
            <a:ext cx="1151603" cy="40956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2322" b="1" i="0">
                <a:solidFill>
                  <a:srgbClr val="7B3F94"/>
                </a:solidFill>
                <a:latin typeface="Montserrat"/>
              </a:rPr>
              <a:t>$1.2M+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49305" y="4358322"/>
            <a:ext cx="2417205" cy="55996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0" i="0" dirty="0">
                <a:solidFill>
                  <a:srgbClr val="333333"/>
                </a:solidFill>
                <a:latin typeface="Montserrat"/>
              </a:rPr>
              <a:t>Average annual cost of cloud misconfigurations per </a:t>
            </a:r>
            <a:r>
              <a:rPr sz="1200" b="0" i="0">
                <a:solidFill>
                  <a:srgbClr val="333333"/>
                </a:solidFill>
                <a:latin typeface="Montserrat"/>
              </a:rPr>
              <a:t>enterprise</a:t>
            </a:r>
            <a:r>
              <a:rPr sz="900" b="0" i="0" dirty="0">
                <a:solidFill>
                  <a:srgbClr val="670E8C"/>
                </a:solidFill>
                <a:latin typeface="Montserrat"/>
              </a:rPr>
              <a:t> </a:t>
            </a:r>
            <a:endParaRPr lang="en-US" sz="900" b="0" i="0" dirty="0">
              <a:solidFill>
                <a:srgbClr val="670E8C"/>
              </a:solidFill>
              <a:latin typeface="Montserrat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2151256" y="5462004"/>
            <a:ext cx="7889032" cy="46805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213" b="0" i="1">
                <a:solidFill>
                  <a:srgbClr val="555555"/>
                </a:solidFill>
                <a:latin typeface="Montserrat"/>
              </a:rPr>
              <a:t>Architecture decisions made</a:t>
            </a:r>
            <a:r>
              <a:rPr sz="1160" b="1" i="0">
                <a:solidFill>
                  <a:srgbClr val="670E8C"/>
                </a:solidFill>
                <a:latin typeface="Montserrat"/>
              </a:rPr>
              <a:t> without structured review</a:t>
            </a:r>
            <a:r>
              <a:rPr sz="1213" b="0" i="1">
                <a:solidFill>
                  <a:srgbClr val="555555"/>
                </a:solidFill>
                <a:latin typeface="Montserrat"/>
              </a:rPr>
              <a:t> create</a:t>
            </a:r>
            <a:r>
              <a:rPr sz="1160" b="1" i="0">
                <a:solidFill>
                  <a:srgbClr val="670E8C"/>
                </a:solidFill>
                <a:latin typeface="Montserrat"/>
              </a:rPr>
              <a:t> technical debt</a:t>
            </a:r>
            <a:r>
              <a:rPr sz="1213" b="0" i="1">
                <a:solidFill>
                  <a:srgbClr val="555555"/>
                </a:solidFill>
                <a:latin typeface="Montserrat"/>
              </a:rPr>
              <a:t> that becomes</a:t>
            </a:r>
            <a:r>
              <a:rPr sz="1160" b="1" i="0">
                <a:solidFill>
                  <a:srgbClr val="670E8C"/>
                </a:solidFill>
                <a:latin typeface="Montserrat"/>
              </a:rPr>
              <a:t> exponentially more expensive</a:t>
            </a:r>
            <a:r>
              <a:rPr sz="1213" b="0" i="1">
                <a:solidFill>
                  <a:srgbClr val="555555"/>
                </a:solidFill>
                <a:latin typeface="Montserrat"/>
              </a:rPr>
              <a:t> to remediate after production deployment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9F5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304800" y="990599"/>
            <a:ext cx="5638800" cy="1061739"/>
          </a:xfrm>
          <a:prstGeom prst="roundRect">
            <a:avLst>
              <a:gd name="adj" fmla="val 14353"/>
            </a:avLst>
          </a:prstGeom>
          <a:solidFill>
            <a:srgbClr val="E6E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304800" y="2204739"/>
            <a:ext cx="5638800" cy="1061739"/>
          </a:xfrm>
          <a:prstGeom prst="roundRect">
            <a:avLst>
              <a:gd name="adj" fmla="val 14353"/>
            </a:avLst>
          </a:prstGeom>
          <a:solidFill>
            <a:srgbClr val="E6E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304800" y="3418879"/>
            <a:ext cx="5638800" cy="1061739"/>
          </a:xfrm>
          <a:prstGeom prst="roundRect">
            <a:avLst>
              <a:gd name="adj" fmla="val 14353"/>
            </a:avLst>
          </a:prstGeom>
          <a:solidFill>
            <a:srgbClr val="E6E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04792" y="295267"/>
            <a:ext cx="7598229" cy="46671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2639" b="1" i="0">
                <a:solidFill>
                  <a:srgbClr val="7B3F94"/>
                </a:solidFill>
                <a:latin typeface="Montserrat"/>
              </a:rPr>
              <a:t>What Azure Review Assistant Delivers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3386" y="1192381"/>
            <a:ext cx="3006550" cy="33336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899" b="1" i="0">
                <a:solidFill>
                  <a:srgbClr val="7B3F94"/>
                </a:solidFill>
                <a:latin typeface="Montserrat"/>
              </a:rPr>
              <a:t>1,300+ Best Practices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3386" y="1637217"/>
            <a:ext cx="4531690" cy="18665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213" b="0" i="0">
                <a:solidFill>
                  <a:srgbClr val="333333"/>
                </a:solidFill>
                <a:latin typeface="Montserrat"/>
              </a:rPr>
              <a:t>Validated checks across 15+ workload types and platforms</a:t>
            </a:r>
            <a:r>
              <a:rPr sz="909" b="0" i="0">
                <a:solidFill>
                  <a:srgbClr val="670E8C"/>
                </a:solidFill>
                <a:latin typeface="Montserrat"/>
              </a:rPr>
              <a:t> </a:t>
            </a:r>
            <a:endParaRPr lang="en-GB" sz="909" b="0" i="0">
              <a:solidFill>
                <a:srgbClr val="670E8C"/>
              </a:solidFill>
              <a:latin typeface="Montserrat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33386" y="2406490"/>
            <a:ext cx="2285645" cy="33336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899" b="1" i="0">
                <a:solidFill>
                  <a:srgbClr val="7B3F94"/>
                </a:solidFill>
                <a:latin typeface="Montserrat"/>
              </a:rPr>
              <a:t>0-100 Scorecard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33386" y="2851326"/>
            <a:ext cx="3815147" cy="18665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213" b="0" i="0">
                <a:solidFill>
                  <a:srgbClr val="333333"/>
                </a:solidFill>
                <a:latin typeface="Montserrat"/>
              </a:rPr>
              <a:t>Weighted assessment with framework coverage</a:t>
            </a:r>
            <a:r>
              <a:rPr sz="909" b="0" i="0">
                <a:solidFill>
                  <a:srgbClr val="670E8C"/>
                </a:solidFill>
                <a:latin typeface="Montserrat"/>
              </a:rPr>
              <a:t> </a:t>
            </a:r>
            <a:endParaRPr lang="en-GB" sz="909" b="0" i="0">
              <a:solidFill>
                <a:srgbClr val="670E8C"/>
              </a:solidFill>
              <a:latin typeface="Montserrat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533386" y="3620600"/>
            <a:ext cx="3041673" cy="33336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899" b="1" i="0">
                <a:solidFill>
                  <a:srgbClr val="7B3F94"/>
                </a:solidFill>
                <a:latin typeface="Montserrat"/>
              </a:rPr>
              <a:t>Board-Ready Exports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3386" y="4065436"/>
            <a:ext cx="2441374" cy="18665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213" b="0" i="0">
                <a:solidFill>
                  <a:srgbClr val="333333"/>
                </a:solidFill>
                <a:latin typeface="Montserrat"/>
              </a:rPr>
              <a:t>CSV, HTML, Markdown formats</a:t>
            </a:r>
            <a:r>
              <a:rPr sz="909" b="0" i="0">
                <a:solidFill>
                  <a:srgbClr val="670E8C"/>
                </a:solidFill>
                <a:latin typeface="Montserrat"/>
              </a:rPr>
              <a:t> </a:t>
            </a:r>
            <a:endParaRPr lang="en-GB" sz="909" b="0" i="0">
              <a:solidFill>
                <a:srgbClr val="670E8C"/>
              </a:solidFill>
              <a:latin typeface="Montserrat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6248243" y="1000099"/>
            <a:ext cx="3498415" cy="295267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688" b="1" i="0">
                <a:solidFill>
                  <a:srgbClr val="7B3F94"/>
                </a:solidFill>
                <a:latin typeface="Montserrat"/>
              </a:rPr>
              <a:t>Standard Mode (No sign-in)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48243" y="3027981"/>
            <a:ext cx="4470089" cy="295267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688" b="1" i="0">
                <a:solidFill>
                  <a:srgbClr val="7B3F94"/>
                </a:solidFill>
                <a:latin typeface="Montserrat"/>
              </a:rPr>
              <a:t>ARB Grade Mode (Sign-in required)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48243" y="1429309"/>
            <a:ext cx="5638658" cy="10821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182756" indent="-182756" algn="l">
              <a:lnSpc>
                <a:spcPts val="1904"/>
              </a:lnSpc>
              <a:spcBef>
                <a:spcPts val="0"/>
              </a:spcBef>
              <a:spcAft>
                <a:spcPts val="0"/>
              </a:spcAft>
              <a:buClr>
                <a:srgbClr val="7B3F94"/>
              </a:buClr>
              <a:buSzPct val="100000"/>
              <a:buFont typeface="Montserrat" charset="0"/>
              <a:buChar char="●"/>
            </a:pPr>
            <a:r>
              <a:rPr sz="1268" b="0" i="0">
                <a:solidFill>
                  <a:srgbClr val="333333"/>
                </a:solidFill>
                <a:latin typeface="Montserrat"/>
              </a:rPr>
              <a:t>Browse 100+ Azure services and select stack components for immediate best-practice findings and regional availability signals</a:t>
            </a:r>
            <a:r>
              <a:rPr sz="937" b="0" i="0">
                <a:solidFill>
                  <a:srgbClr val="670E8C"/>
                </a:solidFill>
                <a:latin typeface="Montserrat"/>
              </a:rPr>
              <a:t> </a:t>
            </a:r>
            <a:endParaRPr lang="en-GB" sz="937" b="0" i="0">
              <a:solidFill>
                <a:srgbClr val="670E8C"/>
              </a:solidFill>
              <a:latin typeface="Montserrat"/>
            </a:endParaRPr>
          </a:p>
          <a:p>
            <a:pPr marL="182756" indent="-182756" algn="l">
              <a:lnSpc>
                <a:spcPts val="1904"/>
              </a:lnSpc>
              <a:spcBef>
                <a:spcPts val="959"/>
              </a:spcBef>
              <a:spcAft>
                <a:spcPts val="0"/>
              </a:spcAft>
              <a:buClr>
                <a:srgbClr val="7B3F94"/>
              </a:buClr>
              <a:buSzPct val="100000"/>
              <a:buFont typeface="Montserrat" charset="0"/>
              <a:buChar char="●"/>
            </a:pPr>
            <a:r>
              <a:rPr sz="1268" b="0" i="0">
                <a:solidFill>
                  <a:srgbClr val="333333"/>
                </a:solidFill>
                <a:latin typeface="Montserrat"/>
              </a:rPr>
              <a:t>Export per-service checks as CSV or HTML for quick design-time risk assessment without authentication overhead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48243" y="3457190"/>
            <a:ext cx="5638658" cy="156946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182756" indent="-182756" algn="l">
              <a:lnSpc>
                <a:spcPts val="1904"/>
              </a:lnSpc>
              <a:spcBef>
                <a:spcPts val="0"/>
              </a:spcBef>
              <a:spcAft>
                <a:spcPts val="0"/>
              </a:spcAft>
              <a:buClr>
                <a:srgbClr val="7B3F94"/>
              </a:buClr>
              <a:buSzPct val="100000"/>
              <a:buFont typeface="Montserrat" charset="0"/>
              <a:buChar char="●"/>
            </a:pPr>
            <a:r>
              <a:rPr sz="1268" b="0" i="0">
                <a:solidFill>
                  <a:srgbClr val="333333"/>
                </a:solidFill>
                <a:latin typeface="Montserrat"/>
              </a:rPr>
              <a:t>Upload SOW documents, design diagrams, IaC scripts, and spreadsheets for automated assessment across 11 frameworks including WAF, CAF, and ALZ Governance</a:t>
            </a:r>
            <a:r>
              <a:rPr sz="937" b="0" i="0">
                <a:solidFill>
                  <a:srgbClr val="670E8C"/>
                </a:solidFill>
                <a:latin typeface="Montserrat"/>
              </a:rPr>
              <a:t> </a:t>
            </a:r>
            <a:endParaRPr lang="en-GB" sz="937" b="0" i="0">
              <a:solidFill>
                <a:srgbClr val="670E8C"/>
              </a:solidFill>
              <a:latin typeface="Montserrat"/>
            </a:endParaRPr>
          </a:p>
          <a:p>
            <a:pPr marL="182756" indent="-182756" algn="l">
              <a:lnSpc>
                <a:spcPts val="1904"/>
              </a:lnSpc>
              <a:spcBef>
                <a:spcPts val="959"/>
              </a:spcBef>
              <a:spcAft>
                <a:spcPts val="0"/>
              </a:spcAft>
              <a:buClr>
                <a:srgbClr val="7B3F94"/>
              </a:buClr>
              <a:buSzPct val="100000"/>
              <a:buFont typeface="Montserrat" charset="0"/>
              <a:buChar char="●"/>
            </a:pPr>
            <a:r>
              <a:rPr sz="1268" b="0" i="0">
                <a:solidFill>
                  <a:srgbClr val="333333"/>
                </a:solidFill>
                <a:latin typeface="Montserrat"/>
              </a:rPr>
              <a:t>Receive weighted scorecard with findings grounded in uploaded documents, Microsoft Learn remediation links, and human sign-off checkpoint before executive summary export</a:t>
            </a:r>
            <a:r>
              <a:rPr sz="937" b="0" i="0">
                <a:solidFill>
                  <a:srgbClr val="670E8C"/>
                </a:solidFill>
                <a:latin typeface="Montserrat"/>
              </a:rPr>
              <a:t> </a:t>
            </a:r>
            <a:endParaRPr lang="en-GB" sz="937" b="0" i="0">
              <a:solidFill>
                <a:srgbClr val="670E8C"/>
              </a:solidFill>
              <a:latin typeface="Montserrat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9F5F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79451D0-4954-3F4C-81ED-32AD843732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00A2CC2-407C-0E08-E6E5-C7D5844036F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882836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9F5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6095847" cy="6857828"/>
          </a:xfrm>
          <a:prstGeom prst="rect">
            <a:avLst/>
          </a:prstGeom>
          <a:solidFill>
            <a:srgbClr val="F5FD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639" y="958429"/>
            <a:ext cx="5352320" cy="110100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3167" b="1" i="0">
                <a:solidFill>
                  <a:srgbClr val="7B3F94"/>
                </a:solidFill>
                <a:latin typeface="Montserrat"/>
              </a:rPr>
              <a:t>Proven Organizational Value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639" y="2293681"/>
            <a:ext cx="5486262" cy="310687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182245" indent="-182245" algn="l">
              <a:lnSpc>
                <a:spcPts val="1987"/>
              </a:lnSpc>
              <a:spcBef>
                <a:spcPts val="0"/>
              </a:spcBef>
              <a:spcAft>
                <a:spcPts val="0"/>
              </a:spcAft>
              <a:buClr>
                <a:srgbClr val="7B3F94"/>
              </a:buClr>
              <a:buSzPct val="100000"/>
              <a:buFont typeface="Montserrat" charset="0"/>
              <a:buChar char="●"/>
            </a:pPr>
            <a:r>
              <a:rPr sz="1300" b="0" i="0">
                <a:solidFill>
                  <a:srgbClr val="333333"/>
                </a:solidFill>
                <a:latin typeface="Montserrat"/>
              </a:rPr>
              <a:t>Early detection of architecture gaps prevents costly production incidents by </a:t>
            </a:r>
            <a:r>
              <a:rPr lang="en-GB" sz="1300">
                <a:solidFill>
                  <a:srgbClr val="333333"/>
                </a:solidFill>
                <a:latin typeface="Montserrat"/>
              </a:rPr>
              <a:t>finding</a:t>
            </a:r>
            <a:r>
              <a:rPr sz="1300" b="0" i="0">
                <a:solidFill>
                  <a:srgbClr val="333333"/>
                </a:solidFill>
                <a:latin typeface="Montserrat"/>
              </a:rPr>
              <a:t> security vulnerabilities, reliability weaknesses, and compliance violations before workload deployment</a:t>
            </a:r>
            <a:r>
              <a:rPr sz="900" b="0" i="0" dirty="0">
                <a:solidFill>
                  <a:srgbClr val="670E8C"/>
                </a:solidFill>
                <a:latin typeface="Montserrat"/>
              </a:rPr>
              <a:t> </a:t>
            </a:r>
            <a:endParaRPr lang="en-GB" sz="900" b="0" i="0" dirty="0">
              <a:solidFill>
                <a:srgbClr val="670E8C"/>
              </a:solidFill>
              <a:latin typeface="Montserrat"/>
            </a:endParaRPr>
          </a:p>
          <a:p>
            <a:pPr marL="182245" indent="-182245" algn="l">
              <a:lnSpc>
                <a:spcPts val="1987"/>
              </a:lnSpc>
              <a:spcBef>
                <a:spcPts val="1199"/>
              </a:spcBef>
              <a:spcAft>
                <a:spcPts val="0"/>
              </a:spcAft>
              <a:buClr>
                <a:srgbClr val="7B3F94"/>
              </a:buClr>
              <a:buSzPct val="100000"/>
              <a:buFont typeface="Montserrat" charset="0"/>
              <a:buChar char="●"/>
            </a:pPr>
            <a:r>
              <a:rPr sz="1300" b="0" i="0">
                <a:solidFill>
                  <a:srgbClr val="333333"/>
                </a:solidFill>
                <a:latin typeface="Montserrat"/>
              </a:rPr>
              <a:t>Standardized review processes accelerate delivery by reducing back-and-forth iterations, providing clear acceptance criteria, and enabling parallel workstream execution across teams</a:t>
            </a:r>
            <a:r>
              <a:rPr sz="900" b="0" i="0" dirty="0">
                <a:solidFill>
                  <a:srgbClr val="670E8C"/>
                </a:solidFill>
                <a:latin typeface="Montserrat"/>
              </a:rPr>
              <a:t> </a:t>
            </a:r>
            <a:endParaRPr lang="en-GB" sz="900" b="0" i="0" dirty="0">
              <a:solidFill>
                <a:srgbClr val="670E8C"/>
              </a:solidFill>
              <a:latin typeface="Montserrat"/>
            </a:endParaRPr>
          </a:p>
          <a:p>
            <a:pPr marL="182245" indent="-182245" algn="l">
              <a:lnSpc>
                <a:spcPts val="1987"/>
              </a:lnSpc>
              <a:spcBef>
                <a:spcPts val="1199"/>
              </a:spcBef>
              <a:spcAft>
                <a:spcPts val="0"/>
              </a:spcAft>
              <a:buClr>
                <a:srgbClr val="7B3F94"/>
              </a:buClr>
              <a:buSzPct val="100000"/>
              <a:buFont typeface="Montserrat" charset="0"/>
              <a:buChar char="●"/>
            </a:pPr>
            <a:r>
              <a:rPr sz="1300" b="0" i="0">
                <a:solidFill>
                  <a:srgbClr val="333333"/>
                </a:solidFill>
                <a:latin typeface="Montserrat"/>
              </a:rPr>
              <a:t>Continuous compliance monitoring through automated policy checks reduces audit burden and ensures ongoing adherence to organizational standards without manual intervention overhead</a:t>
            </a:r>
            <a:r>
              <a:rPr sz="900" b="0" i="0" dirty="0">
                <a:solidFill>
                  <a:srgbClr val="670E8C"/>
                </a:solidFill>
                <a:latin typeface="Montserrat"/>
              </a:rPr>
              <a:t> </a:t>
            </a:r>
            <a:endParaRPr lang="en-GB" sz="900" b="0" i="0" dirty="0">
              <a:solidFill>
                <a:srgbClr val="670E8C"/>
              </a:solidFill>
              <a:latin typeface="Montserrat"/>
            </a:endParaRP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304792" y="1547773"/>
          <a:ext cx="5486262" cy="342891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9F5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5372100" cy="6858000"/>
          </a:xfrm>
          <a:prstGeom prst="rect">
            <a:avLst/>
          </a:prstGeom>
          <a:solidFill>
            <a:srgbClr val="F5FD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304800" y="238571"/>
            <a:ext cx="4762500" cy="971103"/>
          </a:xfrm>
          <a:prstGeom prst="roundRect">
            <a:avLst>
              <a:gd name="adj" fmla="val 15693"/>
            </a:avLst>
          </a:prstGeom>
          <a:solidFill>
            <a:srgbClr val="E6E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600226" y="1376328"/>
            <a:ext cx="171512" cy="200008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304800" y="1743075"/>
            <a:ext cx="4762500" cy="768399"/>
          </a:xfrm>
          <a:prstGeom prst="roundRect">
            <a:avLst>
              <a:gd name="adj" fmla="val 19833"/>
            </a:avLst>
          </a:prstGeom>
          <a:solidFill>
            <a:srgbClr val="E6E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600226" y="2678095"/>
            <a:ext cx="171512" cy="200008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304800" y="3044874"/>
            <a:ext cx="4762500" cy="971103"/>
          </a:xfrm>
          <a:prstGeom prst="roundRect">
            <a:avLst>
              <a:gd name="adj" fmla="val 15693"/>
            </a:avLst>
          </a:prstGeom>
          <a:solidFill>
            <a:srgbClr val="E6E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600226" y="4182560"/>
            <a:ext cx="171512" cy="200008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304800" y="4549378"/>
            <a:ext cx="4762500" cy="768399"/>
          </a:xfrm>
          <a:prstGeom prst="roundRect">
            <a:avLst>
              <a:gd name="adj" fmla="val 19833"/>
            </a:avLst>
          </a:prstGeom>
          <a:solidFill>
            <a:srgbClr val="E6E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600226" y="5484328"/>
            <a:ext cx="171512" cy="200008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304800" y="5851177"/>
            <a:ext cx="4762500" cy="768399"/>
          </a:xfrm>
          <a:prstGeom prst="roundRect">
            <a:avLst>
              <a:gd name="adj" fmla="val 19833"/>
            </a:avLst>
          </a:prstGeom>
          <a:solidFill>
            <a:srgbClr val="E6E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33386" y="390961"/>
            <a:ext cx="1992609" cy="20001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160" b="1" i="0">
                <a:solidFill>
                  <a:srgbClr val="7B3F94"/>
                </a:solidFill>
                <a:latin typeface="Montserrat"/>
              </a:rPr>
              <a:t>Executive Sponsorship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33386" y="661375"/>
            <a:ext cx="4139104" cy="3222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47" b="0" i="0">
                <a:solidFill>
                  <a:srgbClr val="333333"/>
                </a:solidFill>
                <a:latin typeface="Montserrat"/>
              </a:rPr>
              <a:t>Identify sponsor, define vision, confirm budget and policy support</a:t>
            </a:r>
            <a:r>
              <a:rPr sz="785" b="0" i="0">
                <a:solidFill>
                  <a:srgbClr val="670E8C"/>
                </a:solidFill>
                <a:latin typeface="Montserrat"/>
              </a:rPr>
              <a:t> </a:t>
            </a:r>
            <a:endParaRPr lang="en-GB" sz="785" b="0" i="0">
              <a:solidFill>
                <a:srgbClr val="670E8C"/>
              </a:solidFill>
              <a:latin typeface="Montserrat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533386" y="1895427"/>
            <a:ext cx="1342098" cy="20001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160" b="1" i="0">
                <a:solidFill>
                  <a:srgbClr val="7B3F94"/>
                </a:solidFill>
                <a:latin typeface="Montserrat"/>
              </a:rPr>
              <a:t>Adoption Team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3386" y="2165841"/>
            <a:ext cx="3608360" cy="16113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047" b="0" i="0">
                <a:solidFill>
                  <a:srgbClr val="333333"/>
                </a:solidFill>
                <a:latin typeface="Montserrat"/>
              </a:rPr>
              <a:t>Create cross-functional team and champion network</a:t>
            </a:r>
            <a:r>
              <a:rPr sz="785" b="0" i="0">
                <a:solidFill>
                  <a:srgbClr val="670E8C"/>
                </a:solidFill>
                <a:latin typeface="Montserrat"/>
              </a:rPr>
              <a:t> </a:t>
            </a:r>
            <a:endParaRPr lang="en-GB" sz="785" b="0" i="0">
              <a:solidFill>
                <a:srgbClr val="670E8C"/>
              </a:solidFill>
              <a:latin typeface="Montserrat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533386" y="3197194"/>
            <a:ext cx="1648676" cy="20001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160" b="1" i="0">
                <a:solidFill>
                  <a:srgbClr val="7B3F94"/>
                </a:solidFill>
                <a:latin typeface="Montserrat"/>
              </a:rPr>
              <a:t>Training &amp; Support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3386" y="3467608"/>
            <a:ext cx="3527435" cy="3222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47" b="0" i="0">
                <a:solidFill>
                  <a:srgbClr val="333333"/>
                </a:solidFill>
                <a:latin typeface="Montserrat"/>
              </a:rPr>
              <a:t>Deliver comprehensive onboarding and ongoing enablement</a:t>
            </a:r>
            <a:r>
              <a:rPr sz="785" b="0" i="0">
                <a:solidFill>
                  <a:srgbClr val="670E8C"/>
                </a:solidFill>
                <a:latin typeface="Montserrat"/>
              </a:rPr>
              <a:t> </a:t>
            </a:r>
            <a:endParaRPr lang="en-GB" sz="785" b="0" i="0">
              <a:solidFill>
                <a:srgbClr val="670E8C"/>
              </a:solidFill>
              <a:latin typeface="Montserrat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533386" y="4701660"/>
            <a:ext cx="1885456" cy="20001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160" b="1" i="0">
                <a:solidFill>
                  <a:srgbClr val="7B3F94"/>
                </a:solidFill>
                <a:latin typeface="Montserrat"/>
              </a:rPr>
              <a:t>Workflow Integration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3386" y="4972074"/>
            <a:ext cx="3422412" cy="16113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047" b="0" i="0">
                <a:solidFill>
                  <a:srgbClr val="333333"/>
                </a:solidFill>
                <a:latin typeface="Montserrat"/>
              </a:rPr>
              <a:t>Update processes and templates to prompt usage</a:t>
            </a:r>
            <a:r>
              <a:rPr sz="785" b="0" i="0">
                <a:solidFill>
                  <a:srgbClr val="670E8C"/>
                </a:solidFill>
                <a:latin typeface="Montserrat"/>
              </a:rPr>
              <a:t> </a:t>
            </a:r>
            <a:endParaRPr lang="en-GB" sz="785" b="0" i="0">
              <a:solidFill>
                <a:srgbClr val="670E8C"/>
              </a:solidFill>
              <a:latin typeface="Montserrat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533386" y="6003427"/>
            <a:ext cx="2257963" cy="20001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160" b="1" i="0">
                <a:solidFill>
                  <a:srgbClr val="7B3F94"/>
                </a:solidFill>
                <a:latin typeface="Montserrat"/>
              </a:rPr>
              <a:t>Continuous Improvement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33386" y="6273841"/>
            <a:ext cx="3265317" cy="16113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047" b="0" i="0">
                <a:solidFill>
                  <a:srgbClr val="333333"/>
                </a:solidFill>
                <a:latin typeface="Montserrat"/>
              </a:rPr>
              <a:t>Monitor usage, measure impact, refine program</a:t>
            </a:r>
            <a:r>
              <a:rPr sz="785" b="0" i="0">
                <a:solidFill>
                  <a:srgbClr val="670E8C"/>
                </a:solidFill>
                <a:latin typeface="Montserrat"/>
              </a:rPr>
              <a:t> </a:t>
            </a:r>
            <a:endParaRPr lang="en-GB" sz="785" b="0" i="0">
              <a:solidFill>
                <a:srgbClr val="670E8C"/>
              </a:solidFill>
              <a:latin typeface="Montserrat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5676757" y="1391210"/>
            <a:ext cx="5503377" cy="102629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955" b="1" i="0">
                <a:solidFill>
                  <a:srgbClr val="7B3F94"/>
                </a:solidFill>
                <a:latin typeface="Montserrat"/>
              </a:rPr>
              <a:t>Organizational Adoption Framework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676757" y="2805637"/>
            <a:ext cx="6210144" cy="223484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189865" indent="-189865">
              <a:lnSpc>
                <a:spcPts val="1987"/>
              </a:lnSpc>
              <a:buClr>
                <a:srgbClr val="7B3F94"/>
              </a:buClr>
              <a:buSzPct val="100000"/>
              <a:buFont typeface="Montserrat" charset="0"/>
              <a:buChar char="●"/>
            </a:pPr>
            <a:r>
              <a:rPr sz="1300" b="0" i="0" dirty="0">
                <a:solidFill>
                  <a:srgbClr val="333333"/>
                </a:solidFill>
                <a:latin typeface="Montserrat"/>
              </a:rPr>
              <a:t>Strong leadership support </a:t>
            </a:r>
            <a:r>
              <a:rPr lang="en-GB" sz="1300" dirty="0">
                <a:solidFill>
                  <a:srgbClr val="333333"/>
                </a:solidFill>
                <a:latin typeface="Montserrat"/>
              </a:rPr>
              <a:t>sets up</a:t>
            </a:r>
            <a:r>
              <a:rPr sz="1300" b="0" i="0" dirty="0">
                <a:solidFill>
                  <a:srgbClr val="333333"/>
                </a:solidFill>
                <a:latin typeface="Montserrat"/>
              </a:rPr>
              <a:t> </a:t>
            </a:r>
            <a:r>
              <a:rPr lang="en-GB" sz="1300">
                <a:solidFill>
                  <a:srgbClr val="333333"/>
                </a:solidFill>
                <a:latin typeface="Montserrat"/>
              </a:rPr>
              <a:t>sharp</a:t>
            </a:r>
            <a:r>
              <a:rPr sz="1300" b="0" i="0">
                <a:solidFill>
                  <a:srgbClr val="333333"/>
                </a:solidFill>
                <a:latin typeface="Montserrat"/>
              </a:rPr>
              <a:t> vision</a:t>
            </a:r>
            <a:r>
              <a:rPr sz="1300" b="0" i="0" dirty="0">
                <a:solidFill>
                  <a:srgbClr val="333333"/>
                </a:solidFill>
                <a:latin typeface="Montserrat"/>
              </a:rPr>
              <a:t> and confirms budget for adoption</a:t>
            </a:r>
            <a:r>
              <a:rPr sz="900" b="0" i="0" dirty="0">
                <a:solidFill>
                  <a:srgbClr val="670E8C"/>
                </a:solidFill>
                <a:latin typeface="Montserrat"/>
              </a:rPr>
              <a:t> </a:t>
            </a:r>
            <a:endParaRPr lang="en-GB" sz="900" b="0" i="0" dirty="0">
              <a:solidFill>
                <a:srgbClr val="670E8C"/>
              </a:solidFill>
              <a:latin typeface="Montserrat"/>
            </a:endParaRPr>
          </a:p>
          <a:p>
            <a:pPr marL="189865" indent="-189865" algn="l">
              <a:lnSpc>
                <a:spcPts val="1987"/>
              </a:lnSpc>
              <a:spcBef>
                <a:spcPts val="1199"/>
              </a:spcBef>
              <a:spcAft>
                <a:spcPts val="0"/>
              </a:spcAft>
              <a:buClr>
                <a:srgbClr val="7B3F94"/>
              </a:buClr>
              <a:buSzPct val="100000"/>
              <a:buFont typeface="Montserrat" charset="0"/>
              <a:buChar char="●"/>
            </a:pPr>
            <a:r>
              <a:rPr sz="1300" b="0" i="0">
                <a:solidFill>
                  <a:srgbClr val="333333"/>
                </a:solidFill>
                <a:latin typeface="Montserrat"/>
              </a:rPr>
              <a:t>Cross-functional team and champions provide ongoing support beyond pilot</a:t>
            </a:r>
            <a:r>
              <a:rPr sz="900" b="0" i="0" dirty="0">
                <a:solidFill>
                  <a:srgbClr val="670E8C"/>
                </a:solidFill>
                <a:latin typeface="Montserrat"/>
              </a:rPr>
              <a:t> </a:t>
            </a:r>
            <a:endParaRPr lang="en-GB" sz="900" b="0" i="0" dirty="0">
              <a:solidFill>
                <a:srgbClr val="670E8C"/>
              </a:solidFill>
              <a:latin typeface="Montserrat"/>
            </a:endParaRPr>
          </a:p>
          <a:p>
            <a:pPr marL="189865" indent="-189865" algn="l">
              <a:lnSpc>
                <a:spcPts val="1987"/>
              </a:lnSpc>
              <a:spcBef>
                <a:spcPts val="1199"/>
              </a:spcBef>
              <a:spcAft>
                <a:spcPts val="0"/>
              </a:spcAft>
              <a:buClr>
                <a:srgbClr val="7B3F94"/>
              </a:buClr>
              <a:buSzPct val="100000"/>
              <a:buFont typeface="Montserrat" charset="0"/>
              <a:buChar char="●"/>
            </a:pPr>
            <a:r>
              <a:rPr sz="1300" b="0" i="0">
                <a:solidFill>
                  <a:srgbClr val="333333"/>
                </a:solidFill>
                <a:latin typeface="Montserrat"/>
              </a:rPr>
              <a:t>Embedding tool into daily workflow through process updates drives sustained usage</a:t>
            </a:r>
            <a:r>
              <a:rPr sz="900" b="0" i="0" dirty="0">
                <a:solidFill>
                  <a:srgbClr val="670E8C"/>
                </a:solidFill>
                <a:latin typeface="Montserrat"/>
              </a:rPr>
              <a:t> </a:t>
            </a:r>
            <a:endParaRPr lang="en-GB" sz="900" b="0" i="0" dirty="0">
              <a:solidFill>
                <a:srgbClr val="670E8C"/>
              </a:solidFill>
              <a:latin typeface="Montserrat"/>
            </a:endParaRPr>
          </a:p>
          <a:p>
            <a:pPr marL="189865" indent="-189865" algn="l">
              <a:lnSpc>
                <a:spcPts val="1987"/>
              </a:lnSpc>
              <a:spcBef>
                <a:spcPts val="1199"/>
              </a:spcBef>
              <a:spcAft>
                <a:spcPts val="0"/>
              </a:spcAft>
              <a:buClr>
                <a:srgbClr val="7B3F94"/>
              </a:buClr>
              <a:buSzPct val="100000"/>
              <a:buFont typeface="Montserrat" charset="0"/>
              <a:buChar char="●"/>
            </a:pPr>
            <a:r>
              <a:rPr sz="1300" b="0" i="0">
                <a:solidFill>
                  <a:srgbClr val="333333"/>
                </a:solidFill>
                <a:latin typeface="Montserrat"/>
              </a:rPr>
              <a:t>Feedback loop tracking usage metrics enables continuous refinement</a:t>
            </a:r>
            <a:r>
              <a:rPr sz="900" b="0" i="0" dirty="0">
                <a:solidFill>
                  <a:srgbClr val="670E8C"/>
                </a:solidFill>
                <a:latin typeface="Montserrat"/>
              </a:rPr>
              <a:t> </a:t>
            </a:r>
            <a:endParaRPr lang="en-GB" sz="900" b="0" i="0" dirty="0">
              <a:solidFill>
                <a:srgbClr val="670E8C"/>
              </a:solidFill>
              <a:latin typeface="Montserrat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9F5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581899" y="0"/>
            <a:ext cx="4610100" cy="6858000"/>
          </a:xfrm>
          <a:prstGeom prst="rect">
            <a:avLst/>
          </a:prstGeom>
          <a:solidFill>
            <a:srgbClr val="F5FD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7886700" y="1502866"/>
            <a:ext cx="152400" cy="152400"/>
          </a:xfrm>
          <a:prstGeom prst="ellipse">
            <a:avLst/>
          </a:prstGeom>
          <a:solidFill>
            <a:srgbClr val="7B3F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7955160" y="1624905"/>
            <a:ext cx="19050" cy="1054447"/>
          </a:xfrm>
          <a:prstGeom prst="rect">
            <a:avLst/>
          </a:prstGeom>
          <a:solidFill>
            <a:srgbClr val="C9E4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7886700" y="2557313"/>
            <a:ext cx="152400" cy="152400"/>
          </a:xfrm>
          <a:prstGeom prst="ellipse">
            <a:avLst/>
          </a:prstGeom>
          <a:solidFill>
            <a:srgbClr val="7B3F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7955160" y="2679352"/>
            <a:ext cx="19050" cy="1054447"/>
          </a:xfrm>
          <a:prstGeom prst="rect">
            <a:avLst/>
          </a:prstGeom>
          <a:solidFill>
            <a:srgbClr val="C9E4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7886700" y="3611760"/>
            <a:ext cx="152400" cy="152400"/>
          </a:xfrm>
          <a:prstGeom prst="ellipse">
            <a:avLst/>
          </a:prstGeom>
          <a:solidFill>
            <a:srgbClr val="7B3F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7955160" y="3733799"/>
            <a:ext cx="19050" cy="1054447"/>
          </a:xfrm>
          <a:prstGeom prst="rect">
            <a:avLst/>
          </a:prstGeom>
          <a:solidFill>
            <a:srgbClr val="C9E4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7886700" y="4666208"/>
            <a:ext cx="152400" cy="152400"/>
          </a:xfrm>
          <a:prstGeom prst="ellipse">
            <a:avLst/>
          </a:prstGeom>
          <a:solidFill>
            <a:srgbClr val="7B3F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04792" y="1430797"/>
            <a:ext cx="5532100" cy="110100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3167" b="1" i="0">
                <a:solidFill>
                  <a:srgbClr val="7B3F94"/>
                </a:solidFill>
                <a:latin typeface="Montserrat"/>
              </a:rPr>
              <a:t>Recommended Rollout Strategy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191295" y="1472468"/>
            <a:ext cx="1079572" cy="26669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477" b="1" i="0">
                <a:solidFill>
                  <a:srgbClr val="7B3F94"/>
                </a:solidFill>
                <a:latin typeface="Montserrat"/>
              </a:rPr>
              <a:t>Month 1-2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91295" y="1805091"/>
            <a:ext cx="3123377" cy="39423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3" b="0" i="0">
                <a:solidFill>
                  <a:srgbClr val="333333"/>
                </a:solidFill>
                <a:latin typeface="Montserrat"/>
              </a:rPr>
              <a:t>Conduct baseline assessment and create prioritized remediation roadmap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91295" y="2526889"/>
            <a:ext cx="1147584" cy="26669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477" b="1" i="0">
                <a:solidFill>
                  <a:srgbClr val="7B3F94"/>
                </a:solidFill>
                <a:latin typeface="Montserrat"/>
              </a:rPr>
              <a:t>Month 3-4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91295" y="2859512"/>
            <a:ext cx="3346316" cy="39423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3" b="0" i="0">
                <a:solidFill>
                  <a:srgbClr val="333333"/>
                </a:solidFill>
                <a:latin typeface="Montserrat"/>
              </a:rPr>
              <a:t>Pilot with 2-3 engagements and implement critical security and compliance fixes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91295" y="3581310"/>
            <a:ext cx="1137167" cy="26669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477" b="1" i="0">
                <a:solidFill>
                  <a:srgbClr val="7B3F94"/>
                </a:solidFill>
                <a:latin typeface="Montserrat"/>
              </a:rPr>
              <a:t>Month 5-6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91295" y="3913932"/>
            <a:ext cx="3404953" cy="39423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3" b="0" i="0">
                <a:solidFill>
                  <a:srgbClr val="333333"/>
                </a:solidFill>
                <a:latin typeface="Montserrat"/>
              </a:rPr>
              <a:t>Deploy automated monitoring and integrate into architecture approval workflow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91295" y="4635731"/>
            <a:ext cx="978966" cy="26669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477" b="1" i="0">
                <a:solidFill>
                  <a:srgbClr val="7B3F94"/>
                </a:solidFill>
                <a:latin typeface="Montserrat"/>
              </a:rPr>
              <a:t>Ongoing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91295" y="4968353"/>
            <a:ext cx="3385606" cy="39423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3" b="0" i="0">
                <a:solidFill>
                  <a:srgbClr val="333333"/>
                </a:solidFill>
                <a:latin typeface="Montserrat"/>
              </a:rPr>
              <a:t>Execute quarterly maturity assessments and refine governance controls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04792" y="2766050"/>
            <a:ext cx="6972125" cy="249132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182245" indent="-182245">
              <a:lnSpc>
                <a:spcPts val="1987"/>
              </a:lnSpc>
              <a:buClr>
                <a:srgbClr val="7B3F94"/>
              </a:buClr>
              <a:buSzPct val="100000"/>
              <a:buFont typeface="Montserrat" charset="0"/>
              <a:buChar char="●"/>
            </a:pPr>
            <a:r>
              <a:rPr sz="1300" b="0" i="0" dirty="0">
                <a:solidFill>
                  <a:srgbClr val="333333"/>
                </a:solidFill>
                <a:latin typeface="Montserrat"/>
              </a:rPr>
              <a:t>Begin with Azure Landing Zone Review assessment to </a:t>
            </a:r>
            <a:r>
              <a:rPr lang="en-GB" sz="1300">
                <a:solidFill>
                  <a:srgbClr val="333333"/>
                </a:solidFill>
                <a:latin typeface="Montserrat"/>
              </a:rPr>
              <a:t>set up</a:t>
            </a:r>
            <a:r>
              <a:rPr sz="1300" b="0" i="0" dirty="0">
                <a:solidFill>
                  <a:srgbClr val="333333"/>
                </a:solidFill>
                <a:latin typeface="Montserrat"/>
              </a:rPr>
              <a:t> baseline readiness and </a:t>
            </a:r>
            <a:r>
              <a:rPr lang="en-GB" sz="1300" dirty="0">
                <a:solidFill>
                  <a:srgbClr val="333333"/>
                </a:solidFill>
                <a:latin typeface="Montserrat"/>
              </a:rPr>
              <a:t>find</a:t>
            </a:r>
            <a:r>
              <a:rPr sz="1300" b="0" i="0" dirty="0">
                <a:solidFill>
                  <a:srgbClr val="333333"/>
                </a:solidFill>
                <a:latin typeface="Montserrat"/>
              </a:rPr>
              <a:t> foundational gaps </a:t>
            </a:r>
            <a:r>
              <a:rPr sz="900" b="0" i="0" dirty="0">
                <a:solidFill>
                  <a:srgbClr val="670E8C"/>
                </a:solidFill>
                <a:latin typeface="Montserrat"/>
              </a:rPr>
              <a:t> </a:t>
            </a:r>
            <a:endParaRPr lang="en-US" sz="900" b="0" i="0" dirty="0">
              <a:solidFill>
                <a:srgbClr val="670E8C"/>
              </a:solidFill>
              <a:latin typeface="Montserrat"/>
            </a:endParaRPr>
          </a:p>
          <a:p>
            <a:pPr marL="182245" indent="-182245">
              <a:lnSpc>
                <a:spcPts val="1987"/>
              </a:lnSpc>
              <a:spcBef>
                <a:spcPts val="1199"/>
              </a:spcBef>
              <a:buClr>
                <a:srgbClr val="7B3F94"/>
              </a:buClr>
              <a:buSzPct val="100000"/>
              <a:buFont typeface="Montserrat" charset="0"/>
              <a:buChar char="●"/>
            </a:pPr>
            <a:r>
              <a:rPr sz="1300" b="0" i="0" dirty="0">
                <a:solidFill>
                  <a:srgbClr val="333333"/>
                </a:solidFill>
                <a:latin typeface="Montserrat"/>
              </a:rPr>
              <a:t>Prioritize security and compliance findings first to </a:t>
            </a:r>
            <a:r>
              <a:rPr lang="en-GB" sz="1300" dirty="0">
                <a:solidFill>
                  <a:srgbClr val="333333"/>
                </a:solidFill>
                <a:latin typeface="Montserrat"/>
              </a:rPr>
              <a:t>set up</a:t>
            </a:r>
            <a:r>
              <a:rPr sz="1300" b="0" i="0" dirty="0">
                <a:solidFill>
                  <a:srgbClr val="333333"/>
                </a:solidFill>
                <a:latin typeface="Montserrat"/>
              </a:rPr>
              <a:t> minimum </a:t>
            </a:r>
            <a:r>
              <a:rPr lang="en-GB" sz="1300">
                <a:solidFill>
                  <a:srgbClr val="333333"/>
                </a:solidFill>
                <a:latin typeface="Montserrat"/>
              </a:rPr>
              <a:t>practical</a:t>
            </a:r>
            <a:r>
              <a:rPr sz="1300" b="0" i="0" dirty="0">
                <a:solidFill>
                  <a:srgbClr val="333333"/>
                </a:solidFill>
                <a:latin typeface="Montserrat"/>
              </a:rPr>
              <a:t> governance before cost optimization </a:t>
            </a:r>
            <a:endParaRPr sz="900" b="0" i="0" dirty="0">
              <a:solidFill>
                <a:srgbClr val="670E8C"/>
              </a:solidFill>
              <a:latin typeface="Montserrat"/>
            </a:endParaRPr>
          </a:p>
          <a:p>
            <a:pPr marL="182245" indent="-182245" algn="l">
              <a:lnSpc>
                <a:spcPts val="1987"/>
              </a:lnSpc>
              <a:spcBef>
                <a:spcPts val="1199"/>
              </a:spcBef>
              <a:spcAft>
                <a:spcPts val="0"/>
              </a:spcAft>
              <a:buClr>
                <a:srgbClr val="7B3F94"/>
              </a:buClr>
              <a:buSzPct val="100000"/>
              <a:buFont typeface="Montserrat" charset="0"/>
              <a:buChar char="●"/>
            </a:pPr>
            <a:r>
              <a:rPr sz="1300" b="0" i="0">
                <a:solidFill>
                  <a:srgbClr val="333333"/>
                </a:solidFill>
                <a:latin typeface="Montserrat"/>
              </a:rPr>
              <a:t>Establish architecture review checkpoints at key decision gates including landing zone deployment and production promotion </a:t>
            </a:r>
            <a:endParaRPr sz="1300" b="0" i="0">
              <a:solidFill>
                <a:srgbClr val="670E8C"/>
              </a:solidFill>
              <a:latin typeface="Montserrat"/>
            </a:endParaRPr>
          </a:p>
          <a:p>
            <a:pPr marL="182245" indent="-182245" algn="l">
              <a:lnSpc>
                <a:spcPts val="1987"/>
              </a:lnSpc>
              <a:spcBef>
                <a:spcPts val="1199"/>
              </a:spcBef>
              <a:spcAft>
                <a:spcPts val="0"/>
              </a:spcAft>
              <a:buClr>
                <a:srgbClr val="7B3F94"/>
              </a:buClr>
              <a:buSzPct val="100000"/>
              <a:buFont typeface="Montserrat" charset="0"/>
              <a:buChar char="●"/>
            </a:pPr>
            <a:r>
              <a:rPr sz="1300" b="0" i="0">
                <a:solidFill>
                  <a:srgbClr val="333333"/>
                </a:solidFill>
                <a:latin typeface="Montserrat"/>
              </a:rPr>
              <a:t>Transition from manual reviews to automated Azure Resource Graph queries as organization matures and increases adoption </a:t>
            </a:r>
            <a:endParaRPr sz="1300" b="0" i="0">
              <a:solidFill>
                <a:srgbClr val="670E8C"/>
              </a:solidFill>
              <a:latin typeface="Montserrat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9F5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609600" y="274638"/>
            <a:ext cx="10972800" cy="46196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800" b="1" i="0">
                <a:solidFill>
                  <a:srgbClr val="7B3F94"/>
                </a:solidFill>
                <a:latin typeface="Montserrat"/>
              </a:rPr>
              <a:t>Supporting Resources &amp; References</a:t>
            </a:r>
          </a:p>
        </p:txBody>
      </p:sp>
      <p:sp>
        <p:nvSpPr>
          <p:cNvPr id="3" name="Subtitle"/>
          <p:cNvSpPr txBox="1"/>
          <p:nvPr/>
        </p:nvSpPr>
        <p:spPr>
          <a:xfrm>
            <a:off x="609600" y="780000"/>
            <a:ext cx="10972800" cy="26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0" i="1">
                <a:solidFill>
                  <a:srgbClr val="555555"/>
                </a:solidFill>
                <a:latin typeface="Montserrat"/>
              </a:rPr>
              <a:t>Microsoft Learn and Microsoft Blog documentation supporting the claims and frameworks referenced in this presentation</a:t>
            </a:r>
          </a:p>
        </p:txBody>
      </p:sp>
      <p:sp>
        <p:nvSpPr>
          <p:cNvPr id="4" name="LeftColumn"/>
          <p:cNvSpPr txBox="1"/>
          <p:nvPr/>
        </p:nvSpPr>
        <p:spPr>
          <a:xfrm>
            <a:off x="609600" y="1200000"/>
            <a:ext cx="5334000" cy="520000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 i="0">
                <a:solidFill>
                  <a:srgbClr val="7B3F94"/>
                </a:solidFill>
                <a:latin typeface="Montserrat"/>
              </a:rPr>
              <a:t>Frameworks &amp; Architecture</a:t>
            </a:r>
          </a:p>
          <a:p>
            <a:pPr marL="171450" algn="l">
              <a:spcBef>
                <a:spcPts val="200"/>
              </a:spcBef>
              <a:buChar char="▪"/>
            </a:pPr>
            <a:r>
              <a:rPr sz="1050" b="1" i="0">
                <a:solidFill>
                  <a:srgbClr val="333333"/>
                </a:solidFill>
                <a:latin typeface="Montserrat"/>
              </a:rPr>
              <a:t>Azure Well-Architected Framework</a:t>
            </a:r>
          </a:p>
          <a:p>
            <a:pPr marL="171450" algn="l">
              <a:spcAft>
                <a:spcPts val="400"/>
              </a:spcAft>
            </a:pPr>
            <a:r>
              <a:rPr sz="900" b="0" i="0">
                <a:solidFill>
                  <a:srgbClr val="1A6FA0"/>
                </a:solidFill>
                <a:latin typeface="Montserrat"/>
              </a:rPr>
              <a:t>learn.microsoft.com/en-us/azure/well-architected/</a:t>
            </a:r>
          </a:p>
          <a:p>
            <a:pPr marL="171450" algn="l">
              <a:spcBef>
                <a:spcPts val="200"/>
              </a:spcBef>
              <a:buChar char="▪"/>
            </a:pPr>
            <a:r>
              <a:rPr sz="1050" b="1" i="0">
                <a:solidFill>
                  <a:srgbClr val="333333"/>
                </a:solidFill>
                <a:latin typeface="Montserrat"/>
              </a:rPr>
              <a:t>Well-Architected Review Assessment Tool</a:t>
            </a:r>
          </a:p>
          <a:p>
            <a:pPr marL="171450" algn="l">
              <a:spcAft>
                <a:spcPts val="400"/>
              </a:spcAft>
            </a:pPr>
            <a:r>
              <a:rPr sz="900" b="0" i="0">
                <a:solidFill>
                  <a:srgbClr val="1A6FA0"/>
                </a:solidFill>
                <a:latin typeface="Montserrat"/>
              </a:rPr>
              <a:t>learn.microsoft.com/en-us/assessments/azure-architecture-review/</a:t>
            </a:r>
          </a:p>
          <a:p>
            <a:pPr marL="171450" algn="l">
              <a:spcBef>
                <a:spcPts val="200"/>
              </a:spcBef>
              <a:buChar char="▪"/>
            </a:pPr>
            <a:r>
              <a:rPr sz="1050" b="1" i="0">
                <a:solidFill>
                  <a:srgbClr val="333333"/>
                </a:solidFill>
                <a:latin typeface="Montserrat"/>
              </a:rPr>
              <a:t>Microsoft Cloud Adoption Framework (CAF)</a:t>
            </a:r>
          </a:p>
          <a:p>
            <a:pPr marL="171450" algn="l">
              <a:spcAft>
                <a:spcPts val="400"/>
              </a:spcAft>
            </a:pPr>
            <a:r>
              <a:rPr sz="900" b="0" i="0">
                <a:solidFill>
                  <a:srgbClr val="1A6FA0"/>
                </a:solidFill>
                <a:latin typeface="Montserrat"/>
              </a:rPr>
              <a:t>learn.microsoft.com/en-us/azure/cloud-adoption-framework/overview</a:t>
            </a:r>
          </a:p>
          <a:p>
            <a:pPr marL="171450" algn="l">
              <a:spcBef>
                <a:spcPts val="200"/>
              </a:spcBef>
              <a:buChar char="▪"/>
            </a:pPr>
            <a:r>
              <a:rPr sz="1050" b="1" i="0">
                <a:solidFill>
                  <a:srgbClr val="333333"/>
                </a:solidFill>
                <a:latin typeface="Montserrat"/>
              </a:rPr>
              <a:t>Azure Landing Zones</a:t>
            </a:r>
          </a:p>
          <a:p>
            <a:pPr marL="171450" algn="l">
              <a:spcAft>
                <a:spcPts val="400"/>
              </a:spcAft>
            </a:pPr>
            <a:r>
              <a:rPr sz="900" b="0" i="0">
                <a:solidFill>
                  <a:srgbClr val="1A6FA0"/>
                </a:solidFill>
                <a:latin typeface="Montserrat"/>
              </a:rPr>
              <a:t>learn.microsoft.com/en-us/azure/cloud-adoption-framework/ready/landing-zone/</a:t>
            </a:r>
          </a:p>
          <a:p>
            <a:pPr marL="171450" algn="l">
              <a:spcBef>
                <a:spcPts val="200"/>
              </a:spcBef>
              <a:buChar char="▪"/>
            </a:pPr>
            <a:r>
              <a:rPr sz="1050" b="1" i="0">
                <a:solidFill>
                  <a:srgbClr val="333333"/>
                </a:solidFill>
                <a:latin typeface="Montserrat"/>
              </a:rPr>
              <a:t>Azure Architecture Best Practices</a:t>
            </a:r>
          </a:p>
          <a:p>
            <a:pPr marL="171450" algn="l">
              <a:spcAft>
                <a:spcPts val="400"/>
              </a:spcAft>
            </a:pPr>
            <a:r>
              <a:rPr sz="900" b="0" i="0">
                <a:solidFill>
                  <a:srgbClr val="1A6FA0"/>
                </a:solidFill>
                <a:latin typeface="Montserrat"/>
              </a:rPr>
              <a:t>learn.microsoft.com/en-us/azure/architecture/best-practices/index-best-practices</a:t>
            </a:r>
          </a:p>
        </p:txBody>
      </p:sp>
      <p:sp>
        <p:nvSpPr>
          <p:cNvPr id="5" name="RightColumn"/>
          <p:cNvSpPr txBox="1"/>
          <p:nvPr/>
        </p:nvSpPr>
        <p:spPr>
          <a:xfrm>
            <a:off x="6248400" y="1200000"/>
            <a:ext cx="5334000" cy="520000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 i="0">
                <a:solidFill>
                  <a:srgbClr val="7B3F94"/>
                </a:solidFill>
                <a:latin typeface="Montserrat"/>
              </a:rPr>
              <a:t>Governance, Security &amp; Operations</a:t>
            </a:r>
          </a:p>
          <a:p>
            <a:pPr marL="171450" algn="l">
              <a:spcBef>
                <a:spcPts val="200"/>
              </a:spcBef>
              <a:buChar char="▪"/>
            </a:pPr>
            <a:r>
              <a:rPr sz="1050" b="1" i="0">
                <a:solidFill>
                  <a:srgbClr val="333333"/>
                </a:solidFill>
                <a:latin typeface="Montserrat"/>
              </a:rPr>
              <a:t>Azure Governance Design Area</a:t>
            </a:r>
          </a:p>
          <a:p>
            <a:pPr marL="171450" algn="l">
              <a:spcAft>
                <a:spcPts val="400"/>
              </a:spcAft>
            </a:pPr>
            <a:r>
              <a:rPr sz="900" b="0" i="0">
                <a:solidFill>
                  <a:srgbClr val="1A6FA0"/>
                </a:solidFill>
                <a:latin typeface="Montserrat"/>
              </a:rPr>
              <a:t>learn.microsoft.com/en-us/azure/cloud-adoption-framework/ready/landing-zone/design-area/governance</a:t>
            </a:r>
          </a:p>
          <a:p>
            <a:pPr marL="171450" algn="l">
              <a:spcBef>
                <a:spcPts val="200"/>
              </a:spcBef>
              <a:buChar char="▪"/>
            </a:pPr>
            <a:r>
              <a:rPr sz="1050" b="1" i="0">
                <a:solidFill>
                  <a:srgbClr val="333333"/>
                </a:solidFill>
                <a:latin typeface="Montserrat"/>
              </a:rPr>
              <a:t>Azure Resource Graph Overview</a:t>
            </a:r>
          </a:p>
          <a:p>
            <a:pPr marL="171450" algn="l">
              <a:spcAft>
                <a:spcPts val="400"/>
              </a:spcAft>
            </a:pPr>
            <a:r>
              <a:rPr sz="900" b="0" i="0">
                <a:solidFill>
                  <a:srgbClr val="1A6FA0"/>
                </a:solidFill>
                <a:latin typeface="Montserrat"/>
              </a:rPr>
              <a:t>learn.microsoft.com/en-us/azure/governance/resource-graph/overview</a:t>
            </a:r>
          </a:p>
          <a:p>
            <a:pPr marL="171450" algn="l">
              <a:spcBef>
                <a:spcPts val="200"/>
              </a:spcBef>
              <a:buChar char="▪"/>
            </a:pPr>
            <a:r>
              <a:rPr sz="1050" b="1" i="0">
                <a:solidFill>
                  <a:srgbClr val="333333"/>
                </a:solidFill>
                <a:latin typeface="Montserrat"/>
              </a:rPr>
              <a:t>Security Monitoring &amp; Management in Azure</a:t>
            </a:r>
          </a:p>
          <a:p>
            <a:pPr marL="171450" algn="l">
              <a:spcAft>
                <a:spcPts val="400"/>
              </a:spcAft>
            </a:pPr>
            <a:r>
              <a:rPr sz="900" b="0" i="0">
                <a:solidFill>
                  <a:srgbClr val="1A6FA0"/>
                </a:solidFill>
                <a:latin typeface="Montserrat"/>
              </a:rPr>
              <a:t>learn.microsoft.com/en-us/azure/security/fundamentals/management-monitoring-overview</a:t>
            </a:r>
          </a:p>
          <a:p>
            <a:pPr marL="171450" algn="l">
              <a:spcBef>
                <a:spcPts val="200"/>
              </a:spcBef>
              <a:buChar char="▪"/>
            </a:pPr>
            <a:r>
              <a:rPr sz="1050" b="1" i="0">
                <a:solidFill>
                  <a:srgbClr val="333333"/>
                </a:solidFill>
                <a:latin typeface="Montserrat"/>
              </a:rPr>
              <a:t>Monitor Cloud Governance</a:t>
            </a:r>
          </a:p>
          <a:p>
            <a:pPr marL="171450" algn="l">
              <a:spcAft>
                <a:spcPts val="400"/>
              </a:spcAft>
            </a:pPr>
            <a:r>
              <a:rPr sz="900" b="0" i="0">
                <a:solidFill>
                  <a:srgbClr val="1A6FA0"/>
                </a:solidFill>
                <a:latin typeface="Montserrat"/>
              </a:rPr>
              <a:t>learn.microsoft.com/en-us/azure/cloud-adoption-framework/govern/monitor-cloud-governance</a:t>
            </a:r>
          </a:p>
          <a:p>
            <a:pPr marL="171450" algn="l">
              <a:spcBef>
                <a:spcPts val="200"/>
              </a:spcBef>
              <a:buChar char="▪"/>
            </a:pPr>
            <a:r>
              <a:rPr sz="1050" b="1" i="0">
                <a:solidFill>
                  <a:srgbClr val="333333"/>
                </a:solidFill>
                <a:latin typeface="Montserrat"/>
              </a:rPr>
              <a:t>Introducing Azure Well-Architected Framework (Blog)</a:t>
            </a:r>
          </a:p>
          <a:p>
            <a:pPr marL="171450" algn="l">
              <a:spcAft>
                <a:spcPts val="400"/>
              </a:spcAft>
            </a:pPr>
            <a:r>
              <a:rPr sz="900" b="0" i="0">
                <a:solidFill>
                  <a:srgbClr val="1A6FA0"/>
                </a:solidFill>
                <a:latin typeface="Montserrat"/>
              </a:rPr>
              <a:t>azure.microsoft.com/en-us/blog/introducing-the-microsoft-azure-wellarchitected-framework/</a:t>
            </a:r>
          </a:p>
        </p:txBody>
      </p:sp>
      <p:sp>
        <p:nvSpPr>
          <p:cNvPr id="6" name="Divider"/>
          <p:cNvSpPr/>
          <p:nvPr/>
        </p:nvSpPr>
        <p:spPr>
          <a:xfrm>
            <a:off x="6096000" y="1200000"/>
            <a:ext cx="0" cy="4800000"/>
          </a:xfrm>
          <a:prstGeom prst="line">
            <a:avLst/>
          </a:prstGeom>
          <a:ln w="12700">
            <a:solidFill>
              <a:srgbClr val="C5B8D4"/>
            </a:solidFill>
          </a:ln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Metadata/LabelInfo.xml><?xml version="1.0" encoding="utf-8"?>
<clbl:labelList xmlns:clbl="http://schemas.microsoft.com/office/2020/mipLabelMetadata">
  <clbl:label id="{8c9c4a85-26e3-411a-85a5-8f4ffa8ca8e7}" enabled="1" method="Standard" siteId="{570057f4-73ef-41c8-bcbb-08db2fc15c2b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682</Words>
  <Application>Microsoft Office PowerPoint</Application>
  <PresentationFormat>Widescreen</PresentationFormat>
  <Paragraphs>81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Montserrat</vt:lpstr>
      <vt:lpstr>Segoe UI</vt:lpstr>
      <vt:lpstr>Calibri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Upendra Kumar</dc:creator>
  <cp:keywords/>
  <dc:description>generated using python-pptx</dc:description>
  <cp:lastModifiedBy>Upendra Kumar</cp:lastModifiedBy>
  <cp:revision>23</cp:revision>
  <dcterms:created xsi:type="dcterms:W3CDTF">2026-04-14T20:06:07Z</dcterms:created>
  <dcterms:modified xsi:type="dcterms:W3CDTF">2026-04-16T10:21:29Z</dcterms:modified>
  <cp:category/>
</cp:coreProperties>
</file>