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Arial"/>
              </a:rPr>
              <a:t>Scoring weights (8 domains)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Domain weights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96F5"/>
              </a:solidFill>
              <a:effectLst/>
            </c:spPr>
          </c:dPt>
          <c:dPt>
            <c:idx val="1"/>
            <c:bubble3D val="0"/>
            <c:spPr>
              <a:solidFill>
                <a:srgbClr val="27D6C0"/>
              </a:solidFill>
              <a:effectLst/>
            </c:spPr>
          </c:dPt>
          <c:dPt>
            <c:idx val="2"/>
            <c:bubble3D val="0"/>
            <c:spPr>
              <a:solidFill>
                <a:srgbClr val="F5B042"/>
              </a:solidFill>
              <a:effectLst/>
            </c:spPr>
          </c:dPt>
          <c:dPt>
            <c:idx val="3"/>
            <c:bubble3D val="0"/>
            <c:spPr>
              <a:solidFill>
                <a:srgbClr val="8FC8FE"/>
              </a:solidFill>
              <a:effectLst/>
            </c:spPr>
          </c:dPt>
          <c:dPt>
            <c:idx val="4"/>
            <c:bubble3D val="0"/>
            <c:spPr>
              <a:solidFill>
                <a:srgbClr val="5DB075"/>
              </a:solidFill>
              <a:effectLst/>
            </c:spPr>
          </c:dPt>
          <c:dPt>
            <c:idx val="5"/>
            <c:bubble3D val="0"/>
            <c:spPr>
              <a:solidFill>
                <a:srgbClr val="B080F0"/>
              </a:solidFill>
              <a:effectLst/>
            </c:spPr>
          </c:dPt>
          <c:dPt>
            <c:idx val="6"/>
            <c:bubble3D val="0"/>
            <c:spPr>
              <a:solidFill>
                <a:srgbClr val="F07A8F"/>
              </a:solidFill>
              <a:effectLst/>
            </c:spPr>
          </c:dPt>
          <c:dPt>
            <c:idx val="7"/>
            <c:bubble3D val="0"/>
            <c:spPr>
              <a:solidFill>
                <a:srgbClr val="EBC56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Requirements</c:v>
                </c:pt>
                <c:pt idx="1">
                  <c:v>Security</c:v>
                </c:pt>
                <c:pt idx="2">
                  <c:v>Reliability</c:v>
                </c:pt>
                <c:pt idx="3">
                  <c:v>OpEx</c:v>
                </c:pt>
                <c:pt idx="4">
                  <c:v>Cost</c:v>
                </c:pt>
                <c:pt idx="5">
                  <c:v>Performance</c:v>
                </c:pt>
                <c:pt idx="6">
                  <c:v>Governance</c:v>
                </c:pt>
                <c:pt idx="7">
                  <c:v>Documentation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20</c:v>
                </c:pt>
                <c:pt idx="1">
                  <c:v>20</c:v>
                </c:pt>
                <c:pt idx="2">
                  <c:v>15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5</c:v>
                </c:pt>
              </c:numCache>
            </c:numRef>
          </c:val>
        </c:ser>
        <c:firstSliceAng val="0"/>
        <c:holeSize val="50"/>
      </c:doughnutChart>
      <c:spPr>
        <a:solidFill>
          <a:srgbClr val="0B1F3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8FC8F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B1F3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1B2E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E1B2E"/>
                </a:solidFill>
                <a:latin typeface="Arial"/>
              </a:rPr>
              <a:t>Monthly run-cost (USD) by usage tier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OpenAI</c:v>
                </c:pt>
              </c:strCache>
            </c:strRef>
          </c:tx>
          <c:spPr>
            <a:solidFill>
              <a:srgbClr val="2E96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Conservative</c:v>
                  </c:pt>
                  <c:pt idx="1">
                    <c:v>Active</c:v>
                  </c:pt>
                  <c:pt idx="2">
                    <c:v>Busy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25</c:v>
                </c:pt>
                <c:pt idx="2">
                  <c:v>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Functions</c:v>
                </c:pt>
              </c:strCache>
            </c:strRef>
          </c:tx>
          <c:spPr>
            <a:solidFill>
              <a:srgbClr val="27D6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Conservative</c:v>
                  </c:pt>
                  <c:pt idx="1">
                    <c:v>Active</c:v>
                  </c:pt>
                  <c:pt idx="2">
                    <c:v>Busy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1.5</c:v>
                </c:pt>
                <c:pt idx="1">
                  <c:v>4.5</c:v>
                </c:pt>
                <c:pt idx="2">
                  <c:v>7.5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Blob</c:v>
                </c:pt>
              </c:strCache>
            </c:strRef>
          </c:tx>
          <c:spPr>
            <a:solidFill>
              <a:srgbClr val="F5B0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Conservative</c:v>
                  </c:pt>
                  <c:pt idx="1">
                    <c:v>Active</c:v>
                  </c:pt>
                  <c:pt idx="2">
                    <c:v>Busy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1.5</c:v>
                </c:pt>
                <c:pt idx="1">
                  <c:v>2.5</c:v>
                </c:pt>
                <c:pt idx="2">
                  <c:v>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Table</c:v>
                </c:pt>
              </c:strCache>
            </c:strRef>
          </c:tx>
          <c:spPr>
            <a:solidFill>
              <a:srgbClr val="8FC8F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Conservative</c:v>
                  </c:pt>
                  <c:pt idx="1">
                    <c:v>Active</c:v>
                  </c:pt>
                  <c:pt idx="2">
                    <c:v>Busy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0.5</c:v>
                </c:pt>
                <c:pt idx="1">
                  <c:v>1</c:v>
                </c:pt>
                <c:pt idx="2">
                  <c:v>1.5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25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37425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374253"/>
                    </a:solidFill>
                    <a:latin typeface="Arial"/>
                  </a:rPr>
                  <a:t>USD per month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25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7425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96F5"/>
          </a:solidFill>
          <a:ln w="12700">
            <a:solidFill>
              <a:srgbClr val="2E9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2E96F5"/>
          </a:solidFill>
          <a:ln w="12700">
            <a:solidFill>
              <a:srgbClr val="2E96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2E9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REVIEW BOARD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review,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AI speed.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AI-assisted, evidence-grounded architecture reviews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natively on Microsoft Azure.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863840" y="1691640"/>
            <a:ext cx="3657600" cy="4114800"/>
          </a:xfrm>
          <a:prstGeom prst="rect">
            <a:avLst/>
          </a:prstGeom>
          <a:solidFill>
            <a:srgbClr val="13294B"/>
          </a:solidFill>
          <a:ln w="9525">
            <a:solidFill>
              <a:srgbClr val="2E4A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1691640"/>
            <a:ext cx="73152" cy="4114800"/>
          </a:xfrm>
          <a:prstGeom prst="rect">
            <a:avLst/>
          </a:prstGeom>
          <a:solidFill>
            <a:srgbClr val="27D6C0"/>
          </a:solidFill>
          <a:ln w="12700">
            <a:solidFill>
              <a:srgbClr val="27D6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7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BRIEFING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92440" y="22402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· AWS · Google Cloud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Alliance &amp; Pre-Sales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092440" y="320040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
</a:t>
            </a:r>
            <a:endParaRPr lang="en-US" sz="1000" dirty="0"/>
          </a:p>
          <a:p>
            <a:pPr indent="0" marL="0">
              <a:buNone/>
            </a:pPr>
            <a:r>
              <a:rPr lang="en-US" sz="120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https://jolly-sea-014792b10.6.azurestaticapps.net/
</a:t>
            </a:r>
            <a:endParaRPr lang="en-US" sz="1000" dirty="0"/>
          </a:p>
          <a:p>
            <a:pPr indent="0" marL="0">
              <a:buNone/>
            </a:pPr>
            <a:r>
              <a:rPr lang="en-US" sz="1000" spc="400" kern="0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Repository
</a:t>
            </a:r>
            <a:endParaRPr lang="en-US" sz="1000" dirty="0"/>
          </a:p>
          <a:p>
            <a:pPr indent="0" marL="0">
              <a:buNone/>
            </a:pPr>
            <a:r>
              <a:rPr lang="en-US" sz="120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https://github.com/upendra25312/AzureCheckLists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Architecture Office  · 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96F5"/>
          </a:solidFill>
          <a:ln w="12700">
            <a:solidFill>
              <a:srgbClr val="2E96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E9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ARB. WHY NOW.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 is broken at every layer.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pressures collide in 2026: cloud governance, AI velocity, pre-sales rigor.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35204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468880"/>
            <a:ext cx="91440" cy="3657600"/>
          </a:xfrm>
          <a:prstGeom prst="rect">
            <a:avLst/>
          </a:prstGeom>
          <a:solidFill>
            <a:srgbClr val="2E96F5"/>
          </a:solidFill>
          <a:ln w="12700">
            <a:solidFill>
              <a:srgbClr val="2E96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E9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3017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reviews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37947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Spreadsheets, decks, tribal knowledge.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of truth.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traceable evidence.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34840" y="2468880"/>
            <a:ext cx="35204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2468880"/>
            <a:ext cx="91440" cy="3657600"/>
          </a:xfrm>
          <a:prstGeom prst="rect">
            <a:avLst/>
          </a:prstGeom>
          <a:solidFill>
            <a:srgbClr val="27D6C0"/>
          </a:solidFill>
          <a:ln w="12700">
            <a:solidFill>
              <a:srgbClr val="27D6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7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VELOCITY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3017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tools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0" y="37947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copilots can't cite the customer's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SOW or design.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drift, hallucinate, restart each turn.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0" y="2468880"/>
            <a:ext cx="35204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0" y="2468880"/>
            <a:ext cx="91440" cy="3657600"/>
          </a:xfrm>
          <a:prstGeom prst="rect">
            <a:avLst/>
          </a:prstGeom>
          <a:solidFill>
            <a:srgbClr val="F5B042"/>
          </a:solidFill>
          <a:ln w="12700">
            <a:solidFill>
              <a:srgbClr val="F5B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4964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B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PRE-SALES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49640" y="3017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Bid-stage stalls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549640" y="37947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Bids stall in technical review.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models drift from design reality.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slip — then unravel.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Review Board   ·   Partner Briefing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SIGNAL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sponsor we've spoken to feels the same pain.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Architects, pre-sales, alliance partners — all under-tooled for the moment.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3520440" cy="3291840"/>
          </a:xfrm>
          <a:prstGeom prst="rect">
            <a:avLst/>
          </a:prstGeom>
          <a:solidFill>
            <a:srgbClr val="13294B"/>
          </a:solidFill>
          <a:ln w="9525">
            <a:solidFill>
              <a:srgbClr val="2E4A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560320"/>
            <a:ext cx="3520440" cy="73152"/>
          </a:xfrm>
          <a:prstGeom prst="rect">
            <a:avLst/>
          </a:prstGeom>
          <a:solidFill>
            <a:srgbClr val="27D6C0"/>
          </a:solidFill>
          <a:ln w="12700">
            <a:solidFill>
              <a:srgbClr val="27D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8346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7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70%+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cloud projects miss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WAF pillar at design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2560320"/>
            <a:ext cx="3520440" cy="3291840"/>
          </a:xfrm>
          <a:prstGeom prst="rect">
            <a:avLst/>
          </a:prstGeom>
          <a:solidFill>
            <a:srgbClr val="13294B"/>
          </a:solidFill>
          <a:ln w="9525">
            <a:solidFill>
              <a:srgbClr val="2E4A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2560320"/>
            <a:ext cx="3520440" cy="73152"/>
          </a:xfrm>
          <a:prstGeom prst="rect">
            <a:avLst/>
          </a:prstGeom>
          <a:solidFill>
            <a:srgbClr val="2E96F5"/>
          </a:solidFill>
          <a:ln w="12700">
            <a:solidFill>
              <a:srgbClr val="2E96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8346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E9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wk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4663440" y="42976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bottleneck cycle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enterprise ARB sign-off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2560320"/>
            <a:ext cx="3520440" cy="3291840"/>
          </a:xfrm>
          <a:prstGeom prst="rect">
            <a:avLst/>
          </a:prstGeom>
          <a:solidFill>
            <a:srgbClr val="13294B"/>
          </a:solidFill>
          <a:ln w="9525">
            <a:solidFill>
              <a:srgbClr val="2E4A7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2560320"/>
            <a:ext cx="3520440" cy="73152"/>
          </a:xfrm>
          <a:prstGeom prst="rect">
            <a:avLst/>
          </a:prstGeom>
          <a:solidFill>
            <a:srgbClr val="F5B042"/>
          </a:solidFill>
          <a:ln w="12700">
            <a:solidFill>
              <a:srgbClr val="F5B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8346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B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8412480" y="42976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today combine workflow,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regions, and pricing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Cloud Architecture Office field interviews, Q1 2026.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Review Board   ·   Partner Briefing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96F5"/>
          </a:solidFill>
          <a:ln w="12700">
            <a:solidFill>
              <a:srgbClr val="2E96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E9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workflow. Five steps. Board-ready output.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Project-scoped, evidence-grounded, multi-framework — built natively on Azure.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21031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96F5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94460" y="2331720"/>
            <a:ext cx="594360" cy="594360"/>
          </a:xfrm>
          <a:prstGeom prst="ellipse">
            <a:avLst/>
          </a:prstGeom>
          <a:solidFill>
            <a:srgbClr val="2E96F5"/>
          </a:solidFill>
          <a:ln w="12700">
            <a:solidFill>
              <a:srgbClr val="2E96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9446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architecture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package: PDF, DOCX,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PPTX, MD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7772" y="4023360"/>
            <a:ext cx="82296" cy="0"/>
          </a:xfrm>
          <a:prstGeom prst="line">
            <a:avLst/>
          </a:prstGeom>
          <a:noFill/>
          <a:ln w="25400">
            <a:solidFill>
              <a:srgbClr val="2E96F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34640" y="2651760"/>
            <a:ext cx="21031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96F5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89020" y="2331720"/>
            <a:ext cx="594360" cy="594360"/>
          </a:xfrm>
          <a:prstGeom prst="ellipse">
            <a:avLst/>
          </a:prstGeom>
          <a:solidFill>
            <a:srgbClr val="2E96F5"/>
          </a:solidFill>
          <a:ln w="12700">
            <a:solidFill>
              <a:srgbClr val="2E96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8902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97180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017520" y="365760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text into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 index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42332" y="4023360"/>
            <a:ext cx="82296" cy="0"/>
          </a:xfrm>
          <a:prstGeom prst="line">
            <a:avLst/>
          </a:prstGeom>
          <a:noFill/>
          <a:ln w="25400">
            <a:solidFill>
              <a:srgbClr val="2E96F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29200" y="2651760"/>
            <a:ext cx="21031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96F5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83580" y="2331720"/>
            <a:ext cx="594360" cy="594360"/>
          </a:xfrm>
          <a:prstGeom prst="ellipse">
            <a:avLst/>
          </a:prstGeom>
          <a:solidFill>
            <a:srgbClr val="2E96F5"/>
          </a:solidFill>
          <a:ln w="12700">
            <a:solidFill>
              <a:srgbClr val="2E96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8358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16636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212080" y="365760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agent + Microsoft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grounding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36892" y="4023360"/>
            <a:ext cx="82296" cy="0"/>
          </a:xfrm>
          <a:prstGeom prst="line">
            <a:avLst/>
          </a:prstGeom>
          <a:noFill/>
          <a:ln w="25400">
            <a:solidFill>
              <a:srgbClr val="2E96F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223760" y="2651760"/>
            <a:ext cx="21031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96F5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78140" y="2331720"/>
            <a:ext cx="594360" cy="594360"/>
          </a:xfrm>
          <a:prstGeom prst="ellipse">
            <a:avLst/>
          </a:prstGeom>
          <a:solidFill>
            <a:srgbClr val="2E96F5"/>
          </a:solidFill>
          <a:ln w="12700">
            <a:solidFill>
              <a:srgbClr val="2E96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814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6092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406640" y="365760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overrides AI;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decision, conditions,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actions, owners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331452" y="4023360"/>
            <a:ext cx="82296" cy="0"/>
          </a:xfrm>
          <a:prstGeom prst="line">
            <a:avLst/>
          </a:prstGeom>
          <a:noFill/>
          <a:ln w="25400">
            <a:solidFill>
              <a:srgbClr val="2E96F5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418320" y="2651760"/>
            <a:ext cx="21031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96F5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172700" y="2331720"/>
            <a:ext cx="594360" cy="594360"/>
          </a:xfrm>
          <a:prstGeom prst="ellipse">
            <a:avLst/>
          </a:prstGeom>
          <a:solidFill>
            <a:srgbClr val="2E96F5"/>
          </a:solidFill>
          <a:ln w="12700">
            <a:solidFill>
              <a:srgbClr val="2E96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7270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55548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601200" y="365760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· CSV · HTML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· signed URLs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(1-hour expiry)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E9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Time-to-output target: under 5 minutes from upload to exportable scorecard.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Review Board   ·   Partner Briefing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96F5"/>
          </a:solidFill>
          <a:ln w="12700">
            <a:solidFill>
              <a:srgbClr val="2E96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E9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DELIVERED TODAY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capabilities — live in production.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4406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91440" cy="2423160"/>
          </a:xfrm>
          <a:prstGeom prst="rect">
            <a:avLst/>
          </a:prstGeom>
          <a:solidFill>
            <a:srgbClr val="2E96F5"/>
          </a:solidFill>
          <a:ln w="12700">
            <a:solidFill>
              <a:srgbClr val="2E96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116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2E9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Project-scoped review workspace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upload (PDF, DOCX, PPTX)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gating: Ready / Gaps / Insufficient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sign-off + audit trail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1783080"/>
            <a:ext cx="54406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783080"/>
            <a:ext cx="91440" cy="2423160"/>
          </a:xfrm>
          <a:prstGeom prst="rect">
            <a:avLst/>
          </a:prstGeom>
          <a:solidFill>
            <a:srgbClr val="2E96F5"/>
          </a:solidFill>
          <a:ln w="12700">
            <a:solidFill>
              <a:srgbClr val="2E96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20116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2E9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29400" y="2423160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8-domain weighted scoring model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16+ deterministic rules (regions, IAM, network, DR, governance)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Critical-blocker overrides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findings via gpt-4.1-mini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434840"/>
            <a:ext cx="54406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434840"/>
            <a:ext cx="91440" cy="2423160"/>
          </a:xfrm>
          <a:prstGeom prst="rect">
            <a:avLst/>
          </a:prstGeom>
          <a:solidFill>
            <a:srgbClr val="2E96F5"/>
          </a:solidFill>
          <a:ln w="12700">
            <a:solidFill>
              <a:srgbClr val="2E96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6634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2E9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5074920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Azure services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regional availability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retail pricing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Restricted-region callouts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55080" y="4434840"/>
            <a:ext cx="54406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55080" y="4434840"/>
            <a:ext cx="91440" cy="2423160"/>
          </a:xfrm>
          <a:prstGeom prst="rect">
            <a:avLst/>
          </a:prstGeom>
          <a:solidFill>
            <a:srgbClr val="2E96F5"/>
          </a:solidFill>
          <a:ln w="12700">
            <a:solidFill>
              <a:srgbClr val="2E96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46634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2E9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29400" y="5074920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· CSV · HTML · JSON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URLs (1h expiry)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audit trail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+ Microsoft Entra sign-in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Review Board   ·   Partner Briefing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Static-first frontend. Dedicated backend. Governed AI layer.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920240" cy="1280160"/>
          </a:xfrm>
          <a:prstGeom prst="rect">
            <a:avLst/>
          </a:prstGeom>
          <a:solidFill>
            <a:srgbClr val="2E96F5"/>
          </a:solidFill>
          <a:ln w="12700">
            <a:solidFill>
              <a:srgbClr val="2E96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97480" y="1828800"/>
            <a:ext cx="2849880" cy="1280160"/>
          </a:xfrm>
          <a:prstGeom prst="rect">
            <a:avLst/>
          </a:prstGeom>
          <a:solidFill>
            <a:srgbClr val="13294B"/>
          </a:solidFill>
          <a:ln w="12700">
            <a:solidFill>
              <a:srgbClr val="2E96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2011680"/>
            <a:ext cx="2575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834640" y="2542032"/>
            <a:ext cx="257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Web App (Standard)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84520" y="1828800"/>
            <a:ext cx="2849880" cy="1280160"/>
          </a:xfrm>
          <a:prstGeom prst="rect">
            <a:avLst/>
          </a:prstGeom>
          <a:solidFill>
            <a:srgbClr val="13294B"/>
          </a:solidFill>
          <a:ln w="12700">
            <a:solidFill>
              <a:srgbClr val="2E96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21680" y="2011680"/>
            <a:ext cx="2575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cache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21680" y="2542032"/>
            <a:ext cx="257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· theme · notes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71560" y="1828800"/>
            <a:ext cx="2849880" cy="1280160"/>
          </a:xfrm>
          <a:prstGeom prst="rect">
            <a:avLst/>
          </a:prstGeom>
          <a:solidFill>
            <a:srgbClr val="13294B"/>
          </a:solidFill>
          <a:ln w="12700">
            <a:solidFill>
              <a:srgbClr val="2E9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08720" y="2011680"/>
            <a:ext cx="2575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08720" y="2542032"/>
            <a:ext cx="257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· GitHub OAuth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246120"/>
            <a:ext cx="1920240" cy="1280160"/>
          </a:xfrm>
          <a:prstGeom prst="rect">
            <a:avLst/>
          </a:prstGeom>
          <a:solidFill>
            <a:srgbClr val="27D6C0"/>
          </a:solidFill>
          <a:ln w="12700">
            <a:solidFill>
              <a:srgbClr val="27D6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4612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97480" y="3246120"/>
            <a:ext cx="2849880" cy="1280160"/>
          </a:xfrm>
          <a:prstGeom prst="rect">
            <a:avLst/>
          </a:prstGeom>
          <a:solidFill>
            <a:srgbClr val="13294B"/>
          </a:solidFill>
          <a:ln w="12700">
            <a:solidFill>
              <a:srgbClr val="27D6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3429000"/>
            <a:ext cx="2575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App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834640" y="3959352"/>
            <a:ext cx="257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Consumption 512 MB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84520" y="3246120"/>
            <a:ext cx="2849880" cy="1280160"/>
          </a:xfrm>
          <a:prstGeom prst="rect">
            <a:avLst/>
          </a:prstGeom>
          <a:solidFill>
            <a:srgbClr val="13294B"/>
          </a:solidFill>
          <a:ln w="12700">
            <a:solidFill>
              <a:srgbClr val="27D6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21680" y="3429000"/>
            <a:ext cx="2575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Agent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21680" y="3959352"/>
            <a:ext cx="257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Azure-ARB-Agent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71560" y="3246120"/>
            <a:ext cx="2849880" cy="1280160"/>
          </a:xfrm>
          <a:prstGeom prst="rect">
            <a:avLst/>
          </a:prstGeom>
          <a:solidFill>
            <a:srgbClr val="13294B"/>
          </a:solidFill>
          <a:ln w="12700">
            <a:solidFill>
              <a:srgbClr val="27D6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08720" y="3429000"/>
            <a:ext cx="2575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Copilot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808720" y="3959352"/>
            <a:ext cx="257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663440"/>
            <a:ext cx="1920240" cy="1280160"/>
          </a:xfrm>
          <a:prstGeom prst="rect">
            <a:avLst/>
          </a:prstGeom>
          <a:solidFill>
            <a:srgbClr val="F5B042"/>
          </a:solidFill>
          <a:ln w="12700">
            <a:solidFill>
              <a:srgbClr val="F5B0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66344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697480" y="4663440"/>
            <a:ext cx="2103120" cy="1280160"/>
          </a:xfrm>
          <a:prstGeom prst="rect">
            <a:avLst/>
          </a:prstGeom>
          <a:solidFill>
            <a:srgbClr val="13294B"/>
          </a:solidFill>
          <a:ln w="12700">
            <a:solidFill>
              <a:srgbClr val="F5B0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0" y="4846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834640" y="5376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gpt-4.1-mini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37760" y="4663440"/>
            <a:ext cx="2103120" cy="1280160"/>
          </a:xfrm>
          <a:prstGeom prst="rect">
            <a:avLst/>
          </a:prstGeom>
          <a:solidFill>
            <a:srgbClr val="13294B"/>
          </a:solidFill>
          <a:ln w="12700">
            <a:solidFill>
              <a:srgbClr val="F5B0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4846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74920" y="5376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arb-documents index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178040" y="4663440"/>
            <a:ext cx="2103120" cy="1280160"/>
          </a:xfrm>
          <a:prstGeom prst="rect">
            <a:avLst/>
          </a:prstGeom>
          <a:solidFill>
            <a:srgbClr val="13294B"/>
          </a:solidFill>
          <a:ln w="12700">
            <a:solidFill>
              <a:srgbClr val="F5B0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0" y="4846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315200" y="5376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418320" y="4663440"/>
            <a:ext cx="2103120" cy="1280160"/>
          </a:xfrm>
          <a:prstGeom prst="rect">
            <a:avLst/>
          </a:prstGeom>
          <a:solidFill>
            <a:srgbClr val="13294B"/>
          </a:solidFill>
          <a:ln w="12700">
            <a:solidFill>
              <a:srgbClr val="F5B0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555480" y="4846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555480" y="5376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+ Table + Cache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solidFill>
            <a:srgbClr val="13294B"/>
          </a:solidFill>
          <a:ln w="12700">
            <a:solidFill>
              <a:srgbClr val="2E4A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6172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Cross-cutting:  Application Insights   ·   Key Vault   ·   Managed Identity   ·   Microsoft Learn MCP   ·   Application logs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Review Board   ·   Partner Briefing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96F5"/>
          </a:solidFill>
          <a:ln w="12700">
            <a:solidFill>
              <a:srgbClr val="2E96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E9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ARB — and why no native cloud tool covers this gap.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4206240"/>
        </p:xfrm>
        <a:graphic>
          <a:graphicData uri="http://schemas.openxmlformats.org/drawingml/2006/table">
            <a:tbl>
              <a:tblPr/>
              <a:tblGrid>
                <a:gridCol w="3200400"/>
                <a:gridCol w="1188720"/>
                <a:gridCol w="1280160"/>
                <a:gridCol w="1188720"/>
                <a:gridCol w="1188720"/>
                <a:gridCol w="28346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WAF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WA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GCP 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Project-scoped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D6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ingestion (PDF/DOCX/PPTX)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D6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Multi-framework scoring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WAF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WA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WAF · CAF · ALZ · Sec · DR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D6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Board-ready exports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 · CSV · HTML · 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D6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regional 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D6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retail pricing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D6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 override + audit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D6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gating + states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D6C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2E9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 is the only platform combining workflow, evidence, multi-framework scoring, region fit, and pricing in one project-scoped review.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Review Board   ·   Partner Briefing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+ AI HYBRID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is transparent. The model handles narrative — not arithmetic.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weighted domains with explicit decision bands and critical-blocker overrides.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286000"/>
          <a:ext cx="50292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126480" y="2286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BANDS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126480" y="2697480"/>
            <a:ext cx="5486400" cy="640080"/>
          </a:xfrm>
          <a:prstGeom prst="rect">
            <a:avLst/>
          </a:prstGeom>
          <a:solidFill>
            <a:srgbClr val="13294B"/>
          </a:solidFill>
          <a:ln w="6350">
            <a:solidFill>
              <a:srgbClr val="2E4A7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26480" y="2697480"/>
            <a:ext cx="1097280" cy="640080"/>
          </a:xfrm>
          <a:prstGeom prst="rect">
            <a:avLst/>
          </a:prstGeom>
          <a:solidFill>
            <a:srgbClr val="27D6C0"/>
          </a:solidFill>
          <a:ln w="12700">
            <a:solidFill>
              <a:srgbClr val="27D6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0" y="26974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90–100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0" y="26974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 Approved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26480" y="3474720"/>
            <a:ext cx="5486400" cy="640080"/>
          </a:xfrm>
          <a:prstGeom prst="rect">
            <a:avLst/>
          </a:prstGeom>
          <a:solidFill>
            <a:srgbClr val="13294B"/>
          </a:solidFill>
          <a:ln w="6350">
            <a:solidFill>
              <a:srgbClr val="2E4A7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26480" y="3474720"/>
            <a:ext cx="1097280" cy="640080"/>
          </a:xfrm>
          <a:prstGeom prst="rect">
            <a:avLst/>
          </a:prstGeom>
          <a:solidFill>
            <a:srgbClr val="8FC8FE"/>
          </a:solidFill>
          <a:ln w="12700">
            <a:solidFill>
              <a:srgbClr val="8FC8F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3474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75–89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15200" y="34747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with Conditions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26480" y="4251960"/>
            <a:ext cx="5486400" cy="640080"/>
          </a:xfrm>
          <a:prstGeom prst="rect">
            <a:avLst/>
          </a:prstGeom>
          <a:solidFill>
            <a:srgbClr val="13294B"/>
          </a:solidFill>
          <a:ln w="6350">
            <a:solidFill>
              <a:srgbClr val="2E4A7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26480" y="4251960"/>
            <a:ext cx="1097280" cy="640080"/>
          </a:xfrm>
          <a:prstGeom prst="rect">
            <a:avLst/>
          </a:prstGeom>
          <a:solidFill>
            <a:srgbClr val="F5B042"/>
          </a:solidFill>
          <a:ln w="12700">
            <a:solidFill>
              <a:srgbClr val="F5B04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6480" y="42519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315200" y="42519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Improvement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126480" y="5029200"/>
            <a:ext cx="5486400" cy="640080"/>
          </a:xfrm>
          <a:prstGeom prst="rect">
            <a:avLst/>
          </a:prstGeom>
          <a:solidFill>
            <a:srgbClr val="13294B"/>
          </a:solidFill>
          <a:ln w="6350">
            <a:solidFill>
              <a:srgbClr val="2E4A7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26480" y="5029200"/>
            <a:ext cx="1097280" cy="640080"/>
          </a:xfrm>
          <a:prstGeom prst="rect">
            <a:avLst/>
          </a:prstGeom>
          <a:solidFill>
            <a:srgbClr val="F07A8F"/>
          </a:solidFill>
          <a:ln w="12700">
            <a:solidFill>
              <a:srgbClr val="F07A8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26480" y="50292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315200" y="50292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Evidence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12648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Critical-blocker overrides for: identity model, network boundary, backup, compliance, regional constraints.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Review Board   ·   Partner Briefing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D6C0"/>
          </a:solidFill>
          <a:ln w="12700">
            <a:solidFill>
              <a:srgbClr val="27D6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7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POSTURE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operate under USD 60 per month.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engineering pushed to the design layer — not bolted on later.</a:t>
            </a:r>
            <a:endParaRPr lang="en-US" sz="1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286000"/>
          <a:ext cx="68580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2286000"/>
            <a:ext cx="37490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0" y="2286000"/>
            <a:ext cx="91440" cy="3840480"/>
          </a:xfrm>
          <a:prstGeom prst="rect">
            <a:avLst/>
          </a:prstGeom>
          <a:solidFill>
            <a:srgbClr val="27D6C0"/>
          </a:solidFill>
          <a:ln w="12700">
            <a:solidFill>
              <a:srgbClr val="27D6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01000" y="2468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7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GUARDRAILS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001000" y="2834640"/>
            <a:ext cx="3383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file size ≤ 100 MB / upload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scanned-only PDFs in Phase 1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re-synthesis if evidence unchanged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Microsoft Learn grounding by topic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scores in code, narrative via AI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once, reuse across exports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existing Azure OpenAI deployment. No new always-on AI services.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Review Board   ·   Partner Briefing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milestones complete. Two ahead.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97280" y="3840480"/>
            <a:ext cx="9966960" cy="0"/>
          </a:xfrm>
          <a:prstGeom prst="line">
            <a:avLst/>
          </a:prstGeom>
          <a:noFill/>
          <a:ln w="25400">
            <a:solidFill>
              <a:srgbClr val="2E4A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566160"/>
            <a:ext cx="548640" cy="548640"/>
          </a:xfrm>
          <a:prstGeom prst="ellipse">
            <a:avLst/>
          </a:prstGeom>
          <a:solidFill>
            <a:srgbClr val="27D6C0"/>
          </a:solidFill>
          <a:ln w="12700">
            <a:solidFill>
              <a:srgbClr val="27D6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27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· normalization · catalog · exports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16352" y="3566160"/>
            <a:ext cx="548640" cy="548640"/>
          </a:xfrm>
          <a:prstGeom prst="ellipse">
            <a:avLst/>
          </a:prstGeom>
          <a:solidFill>
            <a:srgbClr val="27D6C0"/>
          </a:solidFill>
          <a:ln w="12700">
            <a:solidFill>
              <a:srgbClr val="27D6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16352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76272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27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76272" y="4572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Intelligence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76272" y="4983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regions · live pricing · matrix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9744" y="3566160"/>
            <a:ext cx="548640" cy="548640"/>
          </a:xfrm>
          <a:prstGeom prst="ellipse">
            <a:avLst/>
          </a:prstGeom>
          <a:solidFill>
            <a:srgbClr val="27D6C0"/>
          </a:solidFill>
          <a:ln w="12700">
            <a:solidFill>
              <a:srgbClr val="27D6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9744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169664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27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69664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Review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69664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agent · 3-mode copilot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03136" y="3566160"/>
            <a:ext cx="548640" cy="548640"/>
          </a:xfrm>
          <a:prstGeom prst="ellipse">
            <a:avLst/>
          </a:prstGeom>
          <a:solidFill>
            <a:srgbClr val="27D6C0"/>
          </a:solidFill>
          <a:ln w="12700">
            <a:solidFill>
              <a:srgbClr val="27D6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63056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27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63056" y="4572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Persistence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63056" y="4983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reviews · Table Storage · queue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796528" y="3566160"/>
            <a:ext cx="548640" cy="548640"/>
          </a:xfrm>
          <a:prstGeom prst="ellipse">
            <a:avLst/>
          </a:prstGeom>
          <a:solidFill>
            <a:srgbClr val="F5B042"/>
          </a:solidFill>
          <a:ln w="12700">
            <a:solidFill>
              <a:srgbClr val="F5B0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96528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156448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F5B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56448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Diagnostics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56448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Runtime/config live · log-linked next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789920" y="3566160"/>
            <a:ext cx="548640" cy="548640"/>
          </a:xfrm>
          <a:prstGeom prst="ellipse">
            <a:avLst/>
          </a:prstGeom>
          <a:solidFill>
            <a:srgbClr val="8295A8"/>
          </a:solidFill>
          <a:ln w="12700">
            <a:solidFill>
              <a:srgbClr val="8295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78992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14984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149840" y="4572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Agent + MCP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149840" y="4983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governance · industry packs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   ·    In Progress    ·    Planned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Review Board   ·   Partner Briefing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96F5"/>
          </a:solidFill>
          <a:ln w="12700">
            <a:solidFill>
              <a:srgbClr val="2E96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E9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DEMO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12-minute demo. Five customer-relevant moments.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moment is mapped to the buyer's question — not the platform's feature list.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881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91440" cy="777240"/>
          </a:xfrm>
          <a:prstGeom prst="rect">
            <a:avLst/>
          </a:prstGeom>
          <a:solidFill>
            <a:srgbClr val="2E96F5"/>
          </a:solidFill>
          <a:ln w="12700">
            <a:solidFill>
              <a:srgbClr val="2E96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8745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965960" y="1947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live demo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965960" y="2286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the production URL; show the action-first homepage and project picker.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49640" y="18745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27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this real?”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10881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743200"/>
            <a:ext cx="91440" cy="777240"/>
          </a:xfrm>
          <a:prstGeom prst="rect">
            <a:avLst/>
          </a:prstGeom>
          <a:solidFill>
            <a:srgbClr val="2E96F5"/>
          </a:solidFill>
          <a:ln w="12700">
            <a:solidFill>
              <a:srgbClr val="2E96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74320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965960" y="28163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customer package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965960" y="3154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a real SOW + design pack; confirm extraction and evidence-readiness signal.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49640" y="27432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27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“Does it understand my design?”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611880"/>
            <a:ext cx="10881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611880"/>
            <a:ext cx="91440" cy="777240"/>
          </a:xfrm>
          <a:prstGeom prst="rect">
            <a:avLst/>
          </a:prstGeom>
          <a:solidFill>
            <a:srgbClr val="2E96F5"/>
          </a:solidFill>
          <a:ln w="12700">
            <a:solidFill>
              <a:srgbClr val="2E96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61188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965960" y="36850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scorecard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965960" y="4023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8-domain weights, decision band, critical blockers, and one finding traced to evidence.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49640" y="36118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27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does the score come from?”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480560"/>
            <a:ext cx="10881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480560"/>
            <a:ext cx="91440" cy="777240"/>
          </a:xfrm>
          <a:prstGeom prst="rect">
            <a:avLst/>
          </a:prstGeom>
          <a:solidFill>
            <a:srgbClr val="2E96F5"/>
          </a:solidFill>
          <a:ln w="12700">
            <a:solidFill>
              <a:srgbClr val="2E96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48056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7:30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965960" y="45537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override + audit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965960" y="4892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condition; assign an action with owner + due date; show audit-trail entry in real time.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49640" y="44805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27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my ARB still own the decision?”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5349240"/>
            <a:ext cx="10881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5349240"/>
            <a:ext cx="91440" cy="777240"/>
          </a:xfrm>
          <a:prstGeom prst="rect">
            <a:avLst/>
          </a:prstGeom>
          <a:solidFill>
            <a:srgbClr val="2E96F5"/>
          </a:solidFill>
          <a:ln w="12700">
            <a:solidFill>
              <a:srgbClr val="2E96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53492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965960" y="54223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+ share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965960" y="5760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Markdown + CSV exports; demonstrate signed-URL retrieval; mention 1-hour expiry.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49640" y="53492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27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 I take to my board?”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Review Board   ·   Partner Briefing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B042"/>
          </a:solidFill>
          <a:ln w="12700">
            <a:solidFill>
              <a:srgbClr val="F5B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B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POSTURE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not finished — and what we're doing about it.</a:t>
            </a:r>
            <a:endParaRPr lang="en-US" sz="3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4206240"/>
        </p:xfrm>
        <a:graphic>
          <a:graphicData uri="http://schemas.openxmlformats.org/drawingml/2006/table">
            <a:tbl>
              <a:tblPr/>
              <a:tblGrid>
                <a:gridCol w="4937760"/>
                <a:gridCol w="13716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6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UI/UX debt visible in production (raw category names, typos, duplicate filters)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7A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cleanup before next demo cycle; tracked in Auditfindings.md (16 items).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role assignment not validated end-to-end in production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test admin + runbook; M5 close-out.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envelope (USD 60/month) unverified at concurrency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Controlled load test; budget alerts at 50/75/100 USD.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multi-region failover for Functions / 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Paired-region replica + Front Door (M6).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prompt-injection guardrail on uploaded document content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Sandbox extracted text; restrict tool surface; redact-on-ingest.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rule packs not yet packaged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2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Healthcare / FSI / public sector packs queued for M6.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B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Posture: nothing material is hidden. Risks are tracked, severity-ranked, and assigned.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Review Board   ·   Partner Briefing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tiers. Clear adoption path.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520440" cy="4023360"/>
          </a:xfrm>
          <a:prstGeom prst="rect">
            <a:avLst/>
          </a:prstGeom>
          <a:solidFill>
            <a:srgbClr val="13294B"/>
          </a:solidFill>
          <a:ln w="9525">
            <a:solidFill>
              <a:srgbClr val="2E4A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286000"/>
            <a:ext cx="3520440" cy="91440"/>
          </a:xfrm>
          <a:prstGeom prst="rect">
            <a:avLst/>
          </a:prstGeom>
          <a:solidFill>
            <a:srgbClr val="8FC8FE"/>
          </a:solidFill>
          <a:ln w="12700">
            <a:solidFill>
              <a:srgbClr val="8FC8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architects · evaluators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06908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Hub access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Local-only project review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copilot (3 modes)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2103120"/>
            <a:ext cx="3520440" cy="4206240"/>
          </a:xfrm>
          <a:prstGeom prst="rect">
            <a:avLst/>
          </a:prstGeom>
          <a:solidFill>
            <a:srgbClr val="13294B"/>
          </a:solidFill>
          <a:ln w="25400">
            <a:solidFill>
              <a:srgbClr val="2E96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2103120"/>
            <a:ext cx="3520440" cy="91440"/>
          </a:xfrm>
          <a:prstGeom prst="rect">
            <a:avLst/>
          </a:prstGeom>
          <a:solidFill>
            <a:srgbClr val="2E96F5"/>
          </a:solidFill>
          <a:ln w="12700">
            <a:solidFill>
              <a:srgbClr val="2E96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0" y="1810512"/>
            <a:ext cx="1600200" cy="292608"/>
          </a:xfrm>
          <a:prstGeom prst="rect">
            <a:avLst/>
          </a:prstGeom>
          <a:solidFill>
            <a:srgbClr val="2E96F5"/>
          </a:solidFill>
          <a:ln w="12700">
            <a:solidFill>
              <a:srgbClr val="2E9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181051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09160" y="2331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2E9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AZURE-BACKED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27432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USD 60 / mo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09160" y="3429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Pre-sales · single-tenant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388620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Cloud-persisted reviews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+ sign-off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diagnostics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scoring weights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sign-in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0" y="2286000"/>
            <a:ext cx="3520440" cy="4023360"/>
          </a:xfrm>
          <a:prstGeom prst="rect">
            <a:avLst/>
          </a:prstGeom>
          <a:solidFill>
            <a:srgbClr val="13294B"/>
          </a:solidFill>
          <a:ln w="9525">
            <a:solidFill>
              <a:srgbClr val="2E4A7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2286000"/>
            <a:ext cx="3520440" cy="91440"/>
          </a:xfrm>
          <a:prstGeom prst="rect">
            <a:avLst/>
          </a:prstGeom>
          <a:solidFill>
            <a:srgbClr val="27D6C0"/>
          </a:solidFill>
          <a:ln w="12700">
            <a:solidFill>
              <a:srgbClr val="27D6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27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0" y="29260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Negotiated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503920" y="36118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· regulated industries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03920" y="406908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rule packs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Multi-reviewer workflow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frameworks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+ premium support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stack: every Azure-Backed customer keeps Free; every Enterprise customer keeps Azure-Backed.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Review Board   ·   Partner Briefing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96F5"/>
          </a:solidFill>
          <a:ln w="12700">
            <a:solidFill>
              <a:srgbClr val="2E96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E9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ALLIANCE PARTNERS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reasons to integrate ARB into your motion.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109728" cy="1280160"/>
          </a:xfrm>
          <a:prstGeom prst="rect">
            <a:avLst/>
          </a:prstGeom>
          <a:solidFill>
            <a:srgbClr val="2E96F5"/>
          </a:solidFill>
          <a:ln w="12700">
            <a:solidFill>
              <a:srgbClr val="2E96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9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2468880" y="199339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joint reviews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68880" y="246888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ARB cycles from weeks to a single session. Both sides walk out of the meeting with a board-ready scorecard, exported and signed.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10881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3291840"/>
            <a:ext cx="109728" cy="1280160"/>
          </a:xfrm>
          <a:prstGeom prst="rect">
            <a:avLst/>
          </a:prstGeom>
          <a:solidFill>
            <a:srgbClr val="27D6C0"/>
          </a:solidFill>
          <a:ln w="12700">
            <a:solidFill>
              <a:srgbClr val="27D6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4747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7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2468880" y="345643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technical-win rate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68880" y="393192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Pre-sales arrives with evidence, not slides. Findings cite the customer's own SOW. Bids defend on substance, not story.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754880"/>
            <a:ext cx="10881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4754880"/>
            <a:ext cx="109728" cy="1280160"/>
          </a:xfrm>
          <a:prstGeom prst="rect">
            <a:avLst/>
          </a:prstGeom>
          <a:solidFill>
            <a:srgbClr val="F5B042"/>
          </a:solidFill>
          <a:ln w="12700">
            <a:solidFill>
              <a:srgbClr val="F5B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9377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5B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2468880" y="491947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commercial framing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468880" y="539496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retail pricing + regional fit means the commercial model survives technical review. No surprises in procurement.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Review Board   ·   Partner Briefing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60-minute architecture session. Bring a real customer package.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3520440" cy="3291840"/>
          </a:xfrm>
          <a:prstGeom prst="rect">
            <a:avLst/>
          </a:prstGeom>
          <a:solidFill>
            <a:srgbClr val="13294B"/>
          </a:solidFill>
          <a:ln w="12700">
            <a:solidFill>
              <a:srgbClr val="2E9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926080"/>
            <a:ext cx="640080" cy="640080"/>
          </a:xfrm>
          <a:prstGeom prst="ellipse">
            <a:avLst/>
          </a:prstGeom>
          <a:solidFill>
            <a:srgbClr val="2E96F5"/>
          </a:solidFill>
          <a:ln w="12700">
            <a:solidFill>
              <a:srgbClr val="2E96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the demo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live walkthrough using your customer's actual design pack. We co-pilot the review with your pre-sales lead.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5440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E9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invite via your alliance manager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2743200"/>
            <a:ext cx="3520440" cy="3291840"/>
          </a:xfrm>
          <a:prstGeom prst="rect">
            <a:avLst/>
          </a:prstGeom>
          <a:solidFill>
            <a:srgbClr val="13294B"/>
          </a:solidFill>
          <a:ln w="12700">
            <a:solidFill>
              <a:srgbClr val="27D6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926080"/>
            <a:ext cx="640080" cy="640080"/>
          </a:xfrm>
          <a:prstGeom prst="ellipse">
            <a:avLst/>
          </a:prstGeom>
          <a:solidFill>
            <a:srgbClr val="27D6C0"/>
          </a:solidFill>
          <a:ln w="12700">
            <a:solidFill>
              <a:srgbClr val="27D6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09160" y="3657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scope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09160" y="41605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one priority customer engagement where ARB will be embedded in the technical-review motion this quarter.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5440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7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scope memo · 1 page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2743200"/>
            <a:ext cx="3520440" cy="3291840"/>
          </a:xfrm>
          <a:prstGeom prst="rect">
            <a:avLst/>
          </a:prstGeom>
          <a:solidFill>
            <a:srgbClr val="13294B"/>
          </a:solidFill>
          <a:ln w="12700">
            <a:solidFill>
              <a:srgbClr val="F5B0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58200" y="2926080"/>
            <a:ext cx="640080" cy="640080"/>
          </a:xfrm>
          <a:prstGeom prst="ellipse">
            <a:avLst/>
          </a:prstGeom>
          <a:solidFill>
            <a:srgbClr val="F5B042"/>
          </a:solidFill>
          <a:ln w="12700">
            <a:solidFill>
              <a:srgbClr val="F5B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5820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503920" y="3657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pilot envelope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03920" y="41605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under-USD-60/month operating envelope, success metrics (time-to-artifact, export %, win rate), and the 90-day review cadence.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03920" y="5440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5B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charter · jointly signed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platform   ·   https://jolly-sea-014792b10.6.azurestaticapps.net/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Review Board   ·   Partner Briefing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96F5"/>
          </a:solidFill>
          <a:ln w="12700">
            <a:solidFill>
              <a:srgbClr val="2E96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0" b="1" dirty="0">
                <a:solidFill>
                  <a:srgbClr val="2E9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4400" dirty="0"/>
          </a:p>
        </p:txBody>
      </p:sp>
      <p:sp>
        <p:nvSpPr>
          <p:cNvPr id="4" name="Text 2"/>
          <p:cNvSpPr/>
          <p:nvPr/>
        </p:nvSpPr>
        <p:spPr>
          <a:xfrm>
            <a:off x="1645920" y="182880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review,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AI speed.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645920" y="4206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natively on Microsoft Azure.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Microsoft, AWS, and Google Cloud alliance teams.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5486400"/>
            <a:ext cx="10881360" cy="822960"/>
          </a:xfrm>
          <a:prstGeom prst="rect">
            <a:avLst/>
          </a:prstGeom>
          <a:solidFill>
            <a:srgbClr val="13294B"/>
          </a:solidFill>
          <a:ln w="9525">
            <a:solidFill>
              <a:srgbClr val="2E4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4864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 </a:t>
            </a:r>
            <a:pPr indent="0" marL="0">
              <a:buNone/>
            </a:pPr>
            <a:r>
              <a:rPr lang="en-US" sz="120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https://jolly-sea-014792b10.6.azurestaticapps.net/        </a:t>
            </a:r>
            <a:pPr indent="0" marL="0">
              <a:buNone/>
            </a:pPr>
            <a:r>
              <a:rPr lang="en-US" sz="1200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 </a:t>
            </a:r>
            <a:pPr indent="0" marL="0">
              <a:buNone/>
            </a:pPr>
            <a:r>
              <a:rPr lang="en-US" sz="1200" dirty="0">
                <a:solidFill>
                  <a:srgbClr val="8FC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https://github.com/upendra25312/AzureCheckLists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2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Architecture Office  ·  Microsoft · AWS · Google Cloud — Alliance &amp; Pre-Sales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Review Board — Partner Briefing</dc:title>
  <dc:subject>PptxGenJS Presentation</dc:subject>
  <dc:creator>Cloud Architecture Office</dc:creator>
  <cp:lastModifiedBy>Cloud Architecture Office</cp:lastModifiedBy>
  <cp:revision>1</cp:revision>
  <dcterms:created xsi:type="dcterms:W3CDTF">2026-04-27T13:52:12Z</dcterms:created>
  <dcterms:modified xsi:type="dcterms:W3CDTF">2026-04-27T13:52:12Z</dcterms:modified>
</cp:coreProperties>
</file>